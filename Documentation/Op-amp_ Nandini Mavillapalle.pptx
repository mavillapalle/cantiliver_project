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" name="Shape 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topic: operational amplifiers and their principles — the active building block behind the read-out electronics of the cantilever/PSD experiment.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" name="Shape 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 op-amp is a high-gain voltage amplifier with two inputs and one output, run from a dual supply. It amplifies only the difference between the two inputs by a very large factor A. It is the fundamental building block of analog electronics.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six principles the topic rests on: differential amplification, very high gain, high input impedance, low output impedance, negative-feedback operation (golden rules), and high common-mode rejection.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ideal op-amp: infinite gain, infinite input impedance, zero output impedance. With negative feedback these give the two golden rules — inputs at the same voltage (virtual short), and no input current — which let us solve any op-amp circuit by inspection.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depth: the two golden rules hold only under negative feedback. Rule 1 — because the open-loop gain A is enormous and the output is finite, the input voltage difference Vout/A is only microvolts, so the two inputs are effectively at the same voltage; the feedback loop actively maintains this, and with the plus input grounded the minus input is a virtual ground. Rule 2 — the input impedance is essentially infinite, so the inputs draw negligible current and all current flows through the feedback network, which lets us apply KCL at the inverting node. Caveats: the virtual short is only approximate (Vout/A, worse at high frequency), offset and bias errors matter for small signals, and the rules break if the output saturates or feedback is absent.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hape 1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Derivation of the inverting amplifier. The non-inverting input is grounded; by the virtual-short rule the inverting input sits at a virtual ground of 0 V. By the no-input-current rule, the input current Vin/Rin flows entirely through Rf. Kirchhoff's current law at the node gives Vin/Rin = −Vout/Rf, so Vout = −(Rf/Rin)·Vin. The gain is set only by the resistor ratio.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4" name="Shape 2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Derivation of the non-inverting amplifier. By the virtual-short rule, the inverting input equals the signal at the non-inverting input, Vin. The resistors R1 and Rf form a divider from the output to ground with its tap at the inverting node held at Vin. The current through R1 is Vin/R1, and since no current enters the op-amp the same current flows through Rf, giving Vout = Vin + (Vin/R1)Rf = Vin(1 + Rf/R1). The gain is always at least one, and the input impedance is very high.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2" name="Shape 2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 devices depart from the ideal. Finite gain and the gain-bandwidth product cap accuracy and speed; slew rate limits large fast signals; offset voltage and bias current add DC errors; finite CMRR limits rejection of common-mode signals. For precision measurements these are the effects to respect.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2" name="Shape 3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op-amp's enormous gain is only available at low frequencies; open-loop gain rolls off at about −20 dB/decade. The gain-bandwidth product is constant, equal to the unity-gain frequency f_T. Higher closed-loop gain means proportionally less bandwidth. Above f_T the op-amp can no longer amplify.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5" name="Shape 3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 of topic 4: the op-amp is a high-gain differential amplifier; under feedback it obeys the two golden rules; the closed-loop gain is set by external resistors; and real devices have limits we must respect. These principles underpin every op-amp circuit, including the PSD read-out covered in the next topic.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7" name="Shape 3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Standard references for operational-amplifier theory used in preparing this talk.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4" name="Shape 3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 — happy to take questions on the principles of operational amplifiers.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2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 rot="5400000">
            <a:off x="7714529" y="2640211"/>
            <a:ext cx="2905926" cy="2366545"/>
          </a:xfrm>
          <a:prstGeom prst="triangle">
            <a:avLst/>
          </a:prstGeom>
          <a:solidFill>
            <a:srgbClr val="323C44"/>
          </a:solidFill>
          <a:ln w="25400">
            <a:solidFill>
              <a:srgbClr val="E8A3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7827357" y="3001143"/>
            <a:ext cx="1005841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E8A33D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827357" y="4202148"/>
            <a:ext cx="1005841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000">
                <a:solidFill>
                  <a:srgbClr val="E8A33D"/>
                </a:solidFill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3" name="Shape 3"/>
          <p:cNvSpPr/>
          <p:nvPr/>
        </p:nvSpPr>
        <p:spPr>
          <a:xfrm>
            <a:off x="8880558" y="3823483"/>
            <a:ext cx="1097281" cy="1"/>
          </a:xfrm>
          <a:prstGeom prst="line">
            <a:avLst/>
          </a:prstGeom>
          <a:ln w="38100">
            <a:solidFill>
              <a:srgbClr val="E8A3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6"/>
          <p:cNvSpPr txBox="1"/>
          <p:nvPr/>
        </p:nvSpPr>
        <p:spPr>
          <a:xfrm>
            <a:off x="426993" y="2863849"/>
            <a:ext cx="7589521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Operational Amplifiers</a:t>
            </a:r>
          </a:p>
        </p:txBody>
      </p:sp>
      <p:sp>
        <p:nvSpPr>
          <p:cNvPr id="25" name="Text 7"/>
          <p:cNvSpPr txBox="1"/>
          <p:nvPr/>
        </p:nvSpPr>
        <p:spPr>
          <a:xfrm>
            <a:off x="518433" y="3758727"/>
            <a:ext cx="740664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E8A33D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Principles of Op-Amps</a:t>
            </a:r>
          </a:p>
        </p:txBody>
      </p:sp>
      <p:sp>
        <p:nvSpPr>
          <p:cNvPr id="26" name="Shape 8"/>
          <p:cNvSpPr/>
          <p:nvPr/>
        </p:nvSpPr>
        <p:spPr>
          <a:xfrm>
            <a:off x="658368" y="4754879"/>
            <a:ext cx="4572001" cy="1"/>
          </a:xfrm>
          <a:prstGeom prst="line">
            <a:avLst/>
          </a:prstGeom>
          <a:ln w="19050">
            <a:solidFill>
              <a:srgbClr val="323C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9"/>
          <p:cNvSpPr txBox="1"/>
          <p:nvPr/>
        </p:nvSpPr>
        <p:spPr>
          <a:xfrm>
            <a:off x="658368" y="5027361"/>
            <a:ext cx="8229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D6DCE1"/>
                </a:solidFill>
              </a:defRPr>
            </a:pPr>
            <a:r>
              <a:t>Presented by:  </a:t>
            </a:r>
            <a:r>
              <a:rPr b="1">
                <a:solidFill>
                  <a:srgbClr val="FFFFFF"/>
                </a:solidFill>
              </a:rPr>
              <a:t>Nandini Mavillapalle</a:t>
            </a:r>
          </a:p>
        </p:txBody>
      </p:sp>
      <p:sp>
        <p:nvSpPr>
          <p:cNvPr id="28" name="Text 10"/>
          <p:cNvSpPr txBox="1"/>
          <p:nvPr/>
        </p:nvSpPr>
        <p:spPr>
          <a:xfrm>
            <a:off x="588218" y="5240492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D6DCE1"/>
                </a:solidFill>
              </a:defRPr>
            </a:lvl1pPr>
          </a:lstStyle>
          <a:p>
            <a:pPr/>
            <a:r>
              <a:t>1st Semester M.Sc. EE Student</a:t>
            </a:r>
          </a:p>
        </p:txBody>
      </p:sp>
      <p:sp>
        <p:nvSpPr>
          <p:cNvPr id="29" name="Text 11"/>
          <p:cNvSpPr txBox="1"/>
          <p:nvPr/>
        </p:nvSpPr>
        <p:spPr>
          <a:xfrm>
            <a:off x="588218" y="5476874"/>
            <a:ext cx="8138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6C7883"/>
                </a:solidFill>
              </a:defRPr>
            </a:lvl1pPr>
          </a:lstStyle>
          <a:p>
            <a:pPr/>
            <a:r>
              <a:t>16.07.2026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What is an operational amplifier?</a:t>
            </a:r>
          </a:p>
        </p:txBody>
      </p:sp>
      <p:sp>
        <p:nvSpPr>
          <p:cNvPr id="35" name="Shape 2"/>
          <p:cNvSpPr/>
          <p:nvPr/>
        </p:nvSpPr>
        <p:spPr>
          <a:xfrm rot="5400000">
            <a:off x="1097279" y="2331719"/>
            <a:ext cx="2377441" cy="2377442"/>
          </a:xfrm>
          <a:prstGeom prst="triangle">
            <a:avLst/>
          </a:prstGeom>
          <a:solidFill>
            <a:srgbClr val="E8A33D"/>
          </a:solidFill>
          <a:ln w="1905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3"/>
          <p:cNvSpPr txBox="1"/>
          <p:nvPr/>
        </p:nvSpPr>
        <p:spPr>
          <a:xfrm>
            <a:off x="548639" y="2730063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600">
                <a:solidFill>
                  <a:srgbClr val="232A31"/>
                </a:solidFill>
              </a:defRPr>
            </a:lvl1pPr>
          </a:lstStyle>
          <a:p>
            <a:pPr/>
            <a:r>
              <a:t>V₊</a:t>
            </a:r>
          </a:p>
        </p:txBody>
      </p:sp>
      <p:sp>
        <p:nvSpPr>
          <p:cNvPr id="37" name="Text 4"/>
          <p:cNvSpPr txBox="1"/>
          <p:nvPr/>
        </p:nvSpPr>
        <p:spPr>
          <a:xfrm>
            <a:off x="548639" y="4010223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600">
                <a:solidFill>
                  <a:srgbClr val="232A31"/>
                </a:solidFill>
              </a:defRPr>
            </a:lvl1pPr>
          </a:lstStyle>
          <a:p>
            <a:pPr/>
            <a:r>
              <a:t>V₋</a:t>
            </a:r>
          </a:p>
        </p:txBody>
      </p:sp>
      <p:sp>
        <p:nvSpPr>
          <p:cNvPr id="38" name="Text 5"/>
          <p:cNvSpPr txBox="1"/>
          <p:nvPr/>
        </p:nvSpPr>
        <p:spPr>
          <a:xfrm>
            <a:off x="3657599" y="3259802"/>
            <a:ext cx="822961" cy="338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32A31"/>
                </a:solidFill>
              </a:defRPr>
            </a:lvl1pPr>
          </a:lstStyle>
          <a:p>
            <a:pPr/>
            <a:r>
              <a:t>Vₒᵤₜ</a:t>
            </a:r>
          </a:p>
        </p:txBody>
      </p:sp>
      <p:sp>
        <p:nvSpPr>
          <p:cNvPr id="39" name="Shape 6"/>
          <p:cNvSpPr/>
          <p:nvPr/>
        </p:nvSpPr>
        <p:spPr>
          <a:xfrm>
            <a:off x="2286000" y="2194560"/>
            <a:ext cx="0" cy="13716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7"/>
          <p:cNvSpPr txBox="1"/>
          <p:nvPr/>
        </p:nvSpPr>
        <p:spPr>
          <a:xfrm>
            <a:off x="2514599" y="2001827"/>
            <a:ext cx="731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C7883"/>
                </a:solidFill>
              </a:defRPr>
            </a:lvl1pPr>
          </a:lstStyle>
          <a:p>
            <a:pPr/>
            <a:r>
              <a:t>+Vs</a:t>
            </a:r>
          </a:p>
        </p:txBody>
      </p:sp>
      <p:sp>
        <p:nvSpPr>
          <p:cNvPr id="41" name="Shape 8"/>
          <p:cNvSpPr/>
          <p:nvPr/>
        </p:nvSpPr>
        <p:spPr>
          <a:xfrm>
            <a:off x="2286000" y="4709159"/>
            <a:ext cx="0" cy="18288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9"/>
          <p:cNvSpPr txBox="1"/>
          <p:nvPr/>
        </p:nvSpPr>
        <p:spPr>
          <a:xfrm>
            <a:off x="2514599" y="4927907"/>
            <a:ext cx="731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C7883"/>
                </a:solidFill>
              </a:defRPr>
            </a:lvl1pPr>
          </a:lstStyle>
          <a:p>
            <a:pPr/>
            <a:r>
              <a:t>−Vs</a:t>
            </a:r>
          </a:p>
        </p:txBody>
      </p:sp>
      <p:sp>
        <p:nvSpPr>
          <p:cNvPr id="43" name="Text 10"/>
          <p:cNvSpPr txBox="1"/>
          <p:nvPr/>
        </p:nvSpPr>
        <p:spPr>
          <a:xfrm>
            <a:off x="640079" y="5888027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B8791C"/>
                </a:solidFill>
              </a:defRPr>
            </a:pPr>
            <a:r>
              <a:t>Figure 1: </a:t>
            </a:r>
            <a:r>
              <a:rPr b="0" i="1">
                <a:solidFill>
                  <a:srgbClr val="6C7883"/>
                </a:solidFill>
              </a:rPr>
              <a:t>Op-amp circuit symbol </a:t>
            </a:r>
          </a:p>
        </p:txBody>
      </p:sp>
      <p:sp>
        <p:nvSpPr>
          <p:cNvPr id="44" name="Text 11"/>
          <p:cNvSpPr txBox="1"/>
          <p:nvPr/>
        </p:nvSpPr>
        <p:spPr>
          <a:xfrm>
            <a:off x="4983479" y="1737359"/>
            <a:ext cx="6675121" cy="1840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100"/>
              </a:spcBef>
              <a:buSzPct val="100000"/>
              <a:buChar char="•"/>
              <a:defRPr sz="1500">
                <a:solidFill>
                  <a:srgbClr val="232A31"/>
                </a:solidFill>
              </a:defRPr>
            </a:pPr>
            <a:r>
              <a:t>A high-gain, DC-coupled voltage amplifier with two inputs and one output.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500">
                <a:solidFill>
                  <a:srgbClr val="232A31"/>
                </a:solidFill>
              </a:defRPr>
            </a:pPr>
            <a:r>
              <a:t>It amplifies only the difference between the non-inverting input (V₊) and the inverting input (V₋).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500">
                <a:solidFill>
                  <a:srgbClr val="232A31"/>
                </a:solidFill>
              </a:defRPr>
            </a:pPr>
            <a:r>
              <a:t>Powered by a dual supply (+Vs, −Vs); the output swings between these rails.</a:t>
            </a:r>
          </a:p>
          <a:p>
            <a:pPr marL="342900" indent="-342900">
              <a:spcBef>
                <a:spcPts val="1100"/>
              </a:spcBef>
              <a:buSzPct val="100000"/>
              <a:buChar char="•"/>
              <a:defRPr sz="1500">
                <a:solidFill>
                  <a:srgbClr val="232A31"/>
                </a:solidFill>
              </a:defRPr>
            </a:pPr>
            <a:r>
              <a:t>The fundamental building block of analog signal processing — amplifying, filtering, and mathematical operations on signals.</a:t>
            </a:r>
          </a:p>
        </p:txBody>
      </p:sp>
      <p:sp>
        <p:nvSpPr>
          <p:cNvPr id="45" name="Shape 12"/>
          <p:cNvSpPr/>
          <p:nvPr/>
        </p:nvSpPr>
        <p:spPr>
          <a:xfrm>
            <a:off x="4983479" y="3941444"/>
            <a:ext cx="6675121" cy="777241"/>
          </a:xfrm>
          <a:prstGeom prst="roundRect">
            <a:avLst>
              <a:gd name="adj" fmla="val 7059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3"/>
          <p:cNvSpPr txBox="1"/>
          <p:nvPr/>
        </p:nvSpPr>
        <p:spPr>
          <a:xfrm>
            <a:off x="5120639" y="4206587"/>
            <a:ext cx="6400801" cy="246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E8A33D"/>
                </a:solidFill>
              </a:defRPr>
            </a:pPr>
            <a:r>
              <a:t>Ideal transfer:   </a:t>
            </a:r>
            <a:r>
              <a:rPr sz="1600">
                <a:solidFill>
                  <a:srgbClr val="D6DCE1"/>
                </a:solidFill>
              </a:rPr>
              <a:t>Vₒᵤₜ = A (V₊ − V₋),   with open-loop gain A → very large.</a:t>
            </a:r>
          </a:p>
        </p:txBody>
      </p:sp>
      <p:sp>
        <p:nvSpPr>
          <p:cNvPr id="47" name="Text 14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 Topic 4</a:t>
            </a:r>
          </a:p>
        </p:txBody>
      </p:sp>
      <p:sp>
        <p:nvSpPr>
          <p:cNvPr id="48" name="Text 15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Principles of Op-Amps</a:t>
            </a:r>
          </a:p>
        </p:txBody>
      </p:sp>
      <p:sp>
        <p:nvSpPr>
          <p:cNvPr id="54" name="Shape 2"/>
          <p:cNvSpPr/>
          <p:nvPr/>
        </p:nvSpPr>
        <p:spPr>
          <a:xfrm>
            <a:off x="548640" y="1554480"/>
            <a:ext cx="11064241" cy="640081"/>
          </a:xfrm>
          <a:prstGeom prst="roundRect">
            <a:avLst>
              <a:gd name="adj" fmla="val 7143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"/>
          <p:cNvSpPr/>
          <p:nvPr/>
        </p:nvSpPr>
        <p:spPr>
          <a:xfrm>
            <a:off x="731519" y="1645920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4"/>
          <p:cNvSpPr txBox="1"/>
          <p:nvPr/>
        </p:nvSpPr>
        <p:spPr>
          <a:xfrm>
            <a:off x="731519" y="1734820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7" name="Text 5"/>
          <p:cNvSpPr txBox="1"/>
          <p:nvPr/>
        </p:nvSpPr>
        <p:spPr>
          <a:xfrm>
            <a:off x="1417319" y="1767270"/>
            <a:ext cx="10058401" cy="2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Differential amplification    </a:t>
            </a:r>
            <a:r>
              <a:rPr b="0" sz="1400">
                <a:solidFill>
                  <a:srgbClr val="6C7883"/>
                </a:solidFill>
              </a:rPr>
              <a:t>Responds only to the difference of its inputs:  Vₒᵤₜ = A (V₊ − V₋).</a:t>
            </a:r>
          </a:p>
        </p:txBody>
      </p:sp>
      <p:sp>
        <p:nvSpPr>
          <p:cNvPr id="58" name="Shape 6"/>
          <p:cNvSpPr/>
          <p:nvPr/>
        </p:nvSpPr>
        <p:spPr>
          <a:xfrm>
            <a:off x="731519" y="2404872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7"/>
          <p:cNvSpPr txBox="1"/>
          <p:nvPr/>
        </p:nvSpPr>
        <p:spPr>
          <a:xfrm>
            <a:off x="731519" y="2493772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" name="Text 8"/>
          <p:cNvSpPr txBox="1"/>
          <p:nvPr/>
        </p:nvSpPr>
        <p:spPr>
          <a:xfrm>
            <a:off x="1417319" y="2528895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Very high open-loop gain (A)    </a:t>
            </a:r>
            <a:r>
              <a:rPr b="0" sz="1400">
                <a:solidFill>
                  <a:srgbClr val="6C7883"/>
                </a:solidFill>
              </a:rPr>
              <a:t>Raw gain is enormous (~10⁵–10⁶); feedback tames it into a precise value.</a:t>
            </a:r>
          </a:p>
        </p:txBody>
      </p:sp>
      <p:sp>
        <p:nvSpPr>
          <p:cNvPr id="61" name="Shape 9"/>
          <p:cNvSpPr/>
          <p:nvPr/>
        </p:nvSpPr>
        <p:spPr>
          <a:xfrm>
            <a:off x="548640" y="3072383"/>
            <a:ext cx="11064241" cy="640081"/>
          </a:xfrm>
          <a:prstGeom prst="roundRect">
            <a:avLst>
              <a:gd name="adj" fmla="val 7143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10"/>
          <p:cNvSpPr/>
          <p:nvPr/>
        </p:nvSpPr>
        <p:spPr>
          <a:xfrm>
            <a:off x="731519" y="3163823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1"/>
          <p:cNvSpPr txBox="1"/>
          <p:nvPr/>
        </p:nvSpPr>
        <p:spPr>
          <a:xfrm>
            <a:off x="731519" y="3252723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" name="Text 12"/>
          <p:cNvSpPr txBox="1"/>
          <p:nvPr/>
        </p:nvSpPr>
        <p:spPr>
          <a:xfrm>
            <a:off x="1417319" y="3287847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Very high input impedance    </a:t>
            </a:r>
            <a:r>
              <a:rPr b="0" sz="1400">
                <a:solidFill>
                  <a:srgbClr val="6C7883"/>
                </a:solidFill>
              </a:rPr>
              <a:t>The inputs draw almost no current, so the op-amp does not load the source.</a:t>
            </a:r>
          </a:p>
        </p:txBody>
      </p:sp>
      <p:sp>
        <p:nvSpPr>
          <p:cNvPr id="65" name="Shape 13"/>
          <p:cNvSpPr/>
          <p:nvPr/>
        </p:nvSpPr>
        <p:spPr>
          <a:xfrm>
            <a:off x="731519" y="3922776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4"/>
          <p:cNvSpPr txBox="1"/>
          <p:nvPr/>
        </p:nvSpPr>
        <p:spPr>
          <a:xfrm>
            <a:off x="731519" y="4011676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" name="Text 15"/>
          <p:cNvSpPr txBox="1"/>
          <p:nvPr/>
        </p:nvSpPr>
        <p:spPr>
          <a:xfrm>
            <a:off x="1417319" y="4046799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Very low output impedance    </a:t>
            </a:r>
            <a:r>
              <a:rPr b="0" sz="1400">
                <a:solidFill>
                  <a:srgbClr val="6C7883"/>
                </a:solidFill>
              </a:rPr>
              <a:t>The output can drive a load without its voltage dropping.</a:t>
            </a:r>
          </a:p>
        </p:txBody>
      </p:sp>
      <p:sp>
        <p:nvSpPr>
          <p:cNvPr id="68" name="Shape 16"/>
          <p:cNvSpPr/>
          <p:nvPr/>
        </p:nvSpPr>
        <p:spPr>
          <a:xfrm>
            <a:off x="548640" y="4590288"/>
            <a:ext cx="11064241" cy="640081"/>
          </a:xfrm>
          <a:prstGeom prst="roundRect">
            <a:avLst>
              <a:gd name="adj" fmla="val 7143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17"/>
          <p:cNvSpPr/>
          <p:nvPr/>
        </p:nvSpPr>
        <p:spPr>
          <a:xfrm>
            <a:off x="731519" y="4681728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8"/>
          <p:cNvSpPr txBox="1"/>
          <p:nvPr/>
        </p:nvSpPr>
        <p:spPr>
          <a:xfrm>
            <a:off x="731519" y="4770628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" name="Text 19"/>
          <p:cNvSpPr txBox="1"/>
          <p:nvPr/>
        </p:nvSpPr>
        <p:spPr>
          <a:xfrm>
            <a:off x="1417319" y="4805751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Works with negative feedback    </a:t>
            </a:r>
            <a:r>
              <a:rPr b="0" sz="1400">
                <a:solidFill>
                  <a:srgbClr val="6C7883"/>
                </a:solidFill>
              </a:rPr>
              <a:t>Gives the two golden rules: V₊ = V₋ (virtual short) and no input current.</a:t>
            </a:r>
          </a:p>
        </p:txBody>
      </p:sp>
      <p:sp>
        <p:nvSpPr>
          <p:cNvPr id="72" name="Shape 20"/>
          <p:cNvSpPr/>
          <p:nvPr/>
        </p:nvSpPr>
        <p:spPr>
          <a:xfrm>
            <a:off x="731519" y="5440679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1"/>
          <p:cNvSpPr txBox="1"/>
          <p:nvPr/>
        </p:nvSpPr>
        <p:spPr>
          <a:xfrm>
            <a:off x="731519" y="5529579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4" name="Text 22"/>
          <p:cNvSpPr txBox="1"/>
          <p:nvPr/>
        </p:nvSpPr>
        <p:spPr>
          <a:xfrm>
            <a:off x="1417319" y="5564703"/>
            <a:ext cx="10058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22282E"/>
                </a:solidFill>
              </a:defRPr>
            </a:pPr>
            <a:r>
              <a:t>High common-mode rejection    </a:t>
            </a:r>
            <a:r>
              <a:rPr b="0" sz="1400">
                <a:solidFill>
                  <a:srgbClr val="6C7883"/>
                </a:solidFill>
              </a:rPr>
              <a:t>Rejects signals common to both inputs (noise, drift); amplifies only the difference.</a:t>
            </a:r>
          </a:p>
        </p:txBody>
      </p:sp>
      <p:sp>
        <p:nvSpPr>
          <p:cNvPr id="75" name="Text 23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 Topic 4</a:t>
            </a:r>
          </a:p>
        </p:txBody>
      </p:sp>
      <p:sp>
        <p:nvSpPr>
          <p:cNvPr id="76" name="Text 24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The ideal op-amp &amp; the two golden rules</a:t>
            </a:r>
          </a:p>
        </p:txBody>
      </p:sp>
      <p:sp>
        <p:nvSpPr>
          <p:cNvPr id="82" name="Shape 2"/>
          <p:cNvSpPr/>
          <p:nvPr/>
        </p:nvSpPr>
        <p:spPr>
          <a:xfrm>
            <a:off x="548640" y="1371600"/>
            <a:ext cx="3657601" cy="4480560"/>
          </a:xfrm>
          <a:prstGeom prst="roundRect">
            <a:avLst>
              <a:gd name="adj" fmla="val 1500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3"/>
          <p:cNvSpPr/>
          <p:nvPr/>
        </p:nvSpPr>
        <p:spPr>
          <a:xfrm rot="5400000">
            <a:off x="1097280" y="1783079"/>
            <a:ext cx="2011680" cy="2011681"/>
          </a:xfrm>
          <a:prstGeom prst="triangle">
            <a:avLst/>
          </a:prstGeom>
          <a:solidFill>
            <a:srgbClr val="E8A33D"/>
          </a:solidFill>
          <a:ln w="1905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4"/>
          <p:cNvSpPr txBox="1"/>
          <p:nvPr/>
        </p:nvSpPr>
        <p:spPr>
          <a:xfrm>
            <a:off x="704088" y="212274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400">
                <a:solidFill>
                  <a:srgbClr val="232A31"/>
                </a:solidFill>
              </a:defRPr>
            </a:lvl1pPr>
          </a:lstStyle>
          <a:p>
            <a:pPr/>
            <a:r>
              <a:t>V₊</a:t>
            </a:r>
          </a:p>
        </p:txBody>
      </p:sp>
      <p:sp>
        <p:nvSpPr>
          <p:cNvPr id="85" name="Text 5"/>
          <p:cNvSpPr txBox="1"/>
          <p:nvPr/>
        </p:nvSpPr>
        <p:spPr>
          <a:xfrm>
            <a:off x="704088" y="3174300"/>
            <a:ext cx="3657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1400">
                <a:solidFill>
                  <a:srgbClr val="232A31"/>
                </a:solidFill>
              </a:defRPr>
            </a:lvl1pPr>
          </a:lstStyle>
          <a:p>
            <a:pPr/>
            <a:r>
              <a:t>V₋</a:t>
            </a:r>
          </a:p>
        </p:txBody>
      </p:sp>
      <p:sp>
        <p:nvSpPr>
          <p:cNvPr id="86" name="Shape 6"/>
          <p:cNvSpPr/>
          <p:nvPr/>
        </p:nvSpPr>
        <p:spPr>
          <a:xfrm>
            <a:off x="868680" y="4160520"/>
            <a:ext cx="3017521" cy="594361"/>
          </a:xfrm>
          <a:prstGeom prst="roundRect">
            <a:avLst>
              <a:gd name="adj" fmla="val 7692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7"/>
          <p:cNvSpPr txBox="1"/>
          <p:nvPr/>
        </p:nvSpPr>
        <p:spPr>
          <a:xfrm>
            <a:off x="868679" y="4347099"/>
            <a:ext cx="3017522" cy="22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Vₒᵤₜ = Aₒₗ (V₊ − V₋)</a:t>
            </a:r>
          </a:p>
        </p:txBody>
      </p:sp>
      <p:sp>
        <p:nvSpPr>
          <p:cNvPr id="88" name="Text 8"/>
          <p:cNvSpPr txBox="1"/>
          <p:nvPr/>
        </p:nvSpPr>
        <p:spPr>
          <a:xfrm>
            <a:off x="868680" y="5084117"/>
            <a:ext cx="301752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C7883"/>
                </a:solidFill>
              </a:defRPr>
            </a:lvl1pPr>
          </a:lstStyle>
          <a:p>
            <a:pPr/>
            <a:r>
              <a:t>Ideally it amplifies the difference of its inputs with infinite open-loop gain.</a:t>
            </a:r>
          </a:p>
        </p:txBody>
      </p:sp>
      <p:sp>
        <p:nvSpPr>
          <p:cNvPr id="89" name="Text 9"/>
          <p:cNvSpPr txBox="1"/>
          <p:nvPr/>
        </p:nvSpPr>
        <p:spPr>
          <a:xfrm>
            <a:off x="4571999" y="1375410"/>
            <a:ext cx="3200402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Ideal parameters</a:t>
            </a:r>
          </a:p>
        </p:txBody>
      </p:sp>
      <p:sp>
        <p:nvSpPr>
          <p:cNvPr id="90" name="Text 10"/>
          <p:cNvSpPr txBox="1"/>
          <p:nvPr/>
        </p:nvSpPr>
        <p:spPr>
          <a:xfrm>
            <a:off x="4526279" y="2060436"/>
            <a:ext cx="246888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Open-loop gain  Aₒₗ</a:t>
            </a:r>
          </a:p>
        </p:txBody>
      </p:sp>
      <p:sp>
        <p:nvSpPr>
          <p:cNvPr id="91" name="Text 11"/>
          <p:cNvSpPr txBox="1"/>
          <p:nvPr/>
        </p:nvSpPr>
        <p:spPr>
          <a:xfrm>
            <a:off x="6995159" y="2048458"/>
            <a:ext cx="77724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→ ∞</a:t>
            </a:r>
          </a:p>
        </p:txBody>
      </p:sp>
      <p:sp>
        <p:nvSpPr>
          <p:cNvPr id="92" name="Shape 12"/>
          <p:cNvSpPr/>
          <p:nvPr/>
        </p:nvSpPr>
        <p:spPr>
          <a:xfrm>
            <a:off x="4526279" y="2487167"/>
            <a:ext cx="3246121" cy="1"/>
          </a:xfrm>
          <a:prstGeom prst="line">
            <a:avLst/>
          </a:prstGeom>
          <a:ln w="12700">
            <a:solidFill>
              <a:srgbClr val="DCE2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3"/>
          <p:cNvSpPr txBox="1"/>
          <p:nvPr/>
        </p:nvSpPr>
        <p:spPr>
          <a:xfrm>
            <a:off x="4526279" y="2718804"/>
            <a:ext cx="246888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Input impedance  Zᵢₙ</a:t>
            </a:r>
          </a:p>
        </p:txBody>
      </p:sp>
      <p:sp>
        <p:nvSpPr>
          <p:cNvPr id="94" name="Text 14"/>
          <p:cNvSpPr txBox="1"/>
          <p:nvPr/>
        </p:nvSpPr>
        <p:spPr>
          <a:xfrm>
            <a:off x="6995159" y="2706826"/>
            <a:ext cx="77724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→ ∞</a:t>
            </a:r>
          </a:p>
        </p:txBody>
      </p:sp>
      <p:sp>
        <p:nvSpPr>
          <p:cNvPr id="95" name="Shape 15"/>
          <p:cNvSpPr/>
          <p:nvPr/>
        </p:nvSpPr>
        <p:spPr>
          <a:xfrm>
            <a:off x="4526279" y="3145535"/>
            <a:ext cx="3246121" cy="1"/>
          </a:xfrm>
          <a:prstGeom prst="line">
            <a:avLst/>
          </a:prstGeom>
          <a:ln w="12700">
            <a:solidFill>
              <a:srgbClr val="DCE2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6"/>
          <p:cNvSpPr txBox="1"/>
          <p:nvPr/>
        </p:nvSpPr>
        <p:spPr>
          <a:xfrm>
            <a:off x="4526279" y="3377172"/>
            <a:ext cx="246888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Output impedance  Zₒᵤₜ</a:t>
            </a:r>
          </a:p>
        </p:txBody>
      </p:sp>
      <p:sp>
        <p:nvSpPr>
          <p:cNvPr id="97" name="Text 17"/>
          <p:cNvSpPr txBox="1"/>
          <p:nvPr/>
        </p:nvSpPr>
        <p:spPr>
          <a:xfrm>
            <a:off x="6995159" y="3365194"/>
            <a:ext cx="77724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→ 0</a:t>
            </a:r>
          </a:p>
        </p:txBody>
      </p:sp>
      <p:sp>
        <p:nvSpPr>
          <p:cNvPr id="98" name="Shape 18"/>
          <p:cNvSpPr/>
          <p:nvPr/>
        </p:nvSpPr>
        <p:spPr>
          <a:xfrm>
            <a:off x="4526279" y="3803903"/>
            <a:ext cx="3246121" cy="1"/>
          </a:xfrm>
          <a:prstGeom prst="line">
            <a:avLst/>
          </a:prstGeom>
          <a:ln w="12700">
            <a:solidFill>
              <a:srgbClr val="DCE2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9"/>
          <p:cNvSpPr txBox="1"/>
          <p:nvPr/>
        </p:nvSpPr>
        <p:spPr>
          <a:xfrm>
            <a:off x="4526279" y="4049706"/>
            <a:ext cx="24688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Bandwidth</a:t>
            </a:r>
          </a:p>
        </p:txBody>
      </p:sp>
      <p:sp>
        <p:nvSpPr>
          <p:cNvPr id="100" name="Text 20"/>
          <p:cNvSpPr txBox="1"/>
          <p:nvPr/>
        </p:nvSpPr>
        <p:spPr>
          <a:xfrm>
            <a:off x="6995159" y="4023562"/>
            <a:ext cx="77724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→ ∞</a:t>
            </a:r>
          </a:p>
        </p:txBody>
      </p:sp>
      <p:sp>
        <p:nvSpPr>
          <p:cNvPr id="101" name="Shape 21"/>
          <p:cNvSpPr/>
          <p:nvPr/>
        </p:nvSpPr>
        <p:spPr>
          <a:xfrm>
            <a:off x="4526279" y="4462271"/>
            <a:ext cx="3246121" cy="1"/>
          </a:xfrm>
          <a:prstGeom prst="line">
            <a:avLst/>
          </a:prstGeom>
          <a:ln w="12700">
            <a:solidFill>
              <a:srgbClr val="DCE2E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2"/>
          <p:cNvSpPr txBox="1"/>
          <p:nvPr/>
        </p:nvSpPr>
        <p:spPr>
          <a:xfrm>
            <a:off x="4526279" y="4606474"/>
            <a:ext cx="246888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CMRR(Common Mode Rejection Rate)</a:t>
            </a:r>
          </a:p>
        </p:txBody>
      </p:sp>
      <p:sp>
        <p:nvSpPr>
          <p:cNvPr id="103" name="Text 23"/>
          <p:cNvSpPr txBox="1"/>
          <p:nvPr/>
        </p:nvSpPr>
        <p:spPr>
          <a:xfrm>
            <a:off x="6995159" y="4681930"/>
            <a:ext cx="77724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→ ∞</a:t>
            </a:r>
          </a:p>
        </p:txBody>
      </p:sp>
      <p:sp>
        <p:nvSpPr>
          <p:cNvPr id="104" name="Shape 24"/>
          <p:cNvSpPr/>
          <p:nvPr/>
        </p:nvSpPr>
        <p:spPr>
          <a:xfrm>
            <a:off x="8138159" y="1371600"/>
            <a:ext cx="3611881" cy="4480560"/>
          </a:xfrm>
          <a:prstGeom prst="roundRect">
            <a:avLst>
              <a:gd name="adj" fmla="val 2025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5"/>
          <p:cNvSpPr txBox="1"/>
          <p:nvPr/>
        </p:nvSpPr>
        <p:spPr>
          <a:xfrm>
            <a:off x="8458200" y="1551940"/>
            <a:ext cx="301752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The two golden rules</a:t>
            </a:r>
          </a:p>
        </p:txBody>
      </p:sp>
      <p:sp>
        <p:nvSpPr>
          <p:cNvPr id="106" name="Text 26"/>
          <p:cNvSpPr txBox="1"/>
          <p:nvPr/>
        </p:nvSpPr>
        <p:spPr>
          <a:xfrm>
            <a:off x="8458200" y="1985694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D6DCE1"/>
                </a:solidFill>
              </a:defRPr>
            </a:lvl1pPr>
          </a:lstStyle>
          <a:p>
            <a:pPr/>
            <a:r>
              <a:t>(hold with negative feedback)</a:t>
            </a:r>
          </a:p>
        </p:txBody>
      </p:sp>
      <p:sp>
        <p:nvSpPr>
          <p:cNvPr id="107" name="Shape 27"/>
          <p:cNvSpPr/>
          <p:nvPr/>
        </p:nvSpPr>
        <p:spPr>
          <a:xfrm>
            <a:off x="8412480" y="2377439"/>
            <a:ext cx="411481" cy="41148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28"/>
          <p:cNvSpPr txBox="1"/>
          <p:nvPr/>
        </p:nvSpPr>
        <p:spPr>
          <a:xfrm>
            <a:off x="8412480" y="2443479"/>
            <a:ext cx="4114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9" name="Text 29"/>
          <p:cNvSpPr txBox="1"/>
          <p:nvPr/>
        </p:nvSpPr>
        <p:spPr>
          <a:xfrm>
            <a:off x="8961119" y="2470212"/>
            <a:ext cx="26517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E8A33D"/>
                </a:solidFill>
              </a:defRPr>
            </a:lvl1pPr>
          </a:lstStyle>
          <a:p>
            <a:pPr/>
            <a:r>
              <a:t>Virtual short</a:t>
            </a:r>
          </a:p>
        </p:txBody>
      </p:sp>
      <p:sp>
        <p:nvSpPr>
          <p:cNvPr id="110" name="Text 30"/>
          <p:cNvSpPr txBox="1"/>
          <p:nvPr/>
        </p:nvSpPr>
        <p:spPr>
          <a:xfrm>
            <a:off x="8458200" y="3092692"/>
            <a:ext cx="3063241" cy="489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6DCE1"/>
                </a:solidFill>
              </a:defRPr>
            </a:lvl1pPr>
          </a:lstStyle>
          <a:p>
            <a:pPr/>
            <a:r>
              <a:t>Feedback drives Vₒᵤₜ until V₊ = V₋ — no voltage difference across the inputs.</a:t>
            </a:r>
          </a:p>
        </p:txBody>
      </p:sp>
      <p:sp>
        <p:nvSpPr>
          <p:cNvPr id="111" name="Shape 31"/>
          <p:cNvSpPr/>
          <p:nvPr/>
        </p:nvSpPr>
        <p:spPr>
          <a:xfrm>
            <a:off x="8412480" y="3977640"/>
            <a:ext cx="411481" cy="41148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32"/>
          <p:cNvSpPr txBox="1"/>
          <p:nvPr/>
        </p:nvSpPr>
        <p:spPr>
          <a:xfrm>
            <a:off x="8412480" y="4043680"/>
            <a:ext cx="4114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3" name="Text 33"/>
          <p:cNvSpPr txBox="1"/>
          <p:nvPr/>
        </p:nvSpPr>
        <p:spPr>
          <a:xfrm>
            <a:off x="8961119" y="4070412"/>
            <a:ext cx="26517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E8A33D"/>
                </a:solidFill>
              </a:defRPr>
            </a:lvl1pPr>
          </a:lstStyle>
          <a:p>
            <a:pPr/>
            <a:r>
              <a:t>No input current</a:t>
            </a:r>
          </a:p>
        </p:txBody>
      </p:sp>
      <p:sp>
        <p:nvSpPr>
          <p:cNvPr id="114" name="Text 34"/>
          <p:cNvSpPr txBox="1"/>
          <p:nvPr/>
        </p:nvSpPr>
        <p:spPr>
          <a:xfrm>
            <a:off x="8458200" y="4682732"/>
            <a:ext cx="3063241" cy="692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D6DCE1"/>
                </a:solidFill>
              </a:defRPr>
            </a:lvl1pPr>
          </a:lstStyle>
          <a:p>
            <a:pPr/>
            <a:r>
              <a:t>Infinite Zᵢₙ means the inputs draw no current — it all flows through the feedback network.</a:t>
            </a:r>
          </a:p>
        </p:txBody>
      </p:sp>
      <p:sp>
        <p:nvSpPr>
          <p:cNvPr id="115" name="Text 35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Topic 4</a:t>
            </a:r>
          </a:p>
        </p:txBody>
      </p:sp>
      <p:sp>
        <p:nvSpPr>
          <p:cNvPr id="116" name="Text 36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The two golden rules — in depth</a:t>
            </a:r>
          </a:p>
        </p:txBody>
      </p:sp>
      <p:sp>
        <p:nvSpPr>
          <p:cNvPr id="122" name="Shape 2"/>
          <p:cNvSpPr/>
          <p:nvPr/>
        </p:nvSpPr>
        <p:spPr>
          <a:xfrm>
            <a:off x="548640" y="1234439"/>
            <a:ext cx="11064241" cy="548641"/>
          </a:xfrm>
          <a:prstGeom prst="roundRect">
            <a:avLst>
              <a:gd name="adj" fmla="val 8333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3"/>
          <p:cNvSpPr txBox="1"/>
          <p:nvPr/>
        </p:nvSpPr>
        <p:spPr>
          <a:xfrm>
            <a:off x="822959" y="1414080"/>
            <a:ext cx="106070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E8A33D"/>
                </a:solidFill>
              </a:defRPr>
            </a:pPr>
            <a:r>
              <a:t>Precondition:  </a:t>
            </a:r>
            <a:r>
              <a:rPr b="0">
                <a:solidFill>
                  <a:srgbClr val="D6DCE1"/>
                </a:solidFill>
              </a:rPr>
              <a:t>the rules hold only with negative feedback — part of the output must return to the inverting (−) input.</a:t>
            </a:r>
          </a:p>
        </p:txBody>
      </p:sp>
      <p:sp>
        <p:nvSpPr>
          <p:cNvPr id="124" name="Shape 4"/>
          <p:cNvSpPr/>
          <p:nvPr/>
        </p:nvSpPr>
        <p:spPr>
          <a:xfrm>
            <a:off x="548640" y="1965960"/>
            <a:ext cx="5440680" cy="3200401"/>
          </a:xfrm>
          <a:prstGeom prst="roundRect">
            <a:avLst>
              <a:gd name="adj" fmla="val 1714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5"/>
          <p:cNvSpPr txBox="1"/>
          <p:nvPr/>
        </p:nvSpPr>
        <p:spPr>
          <a:xfrm>
            <a:off x="868679" y="2175509"/>
            <a:ext cx="484632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Rule 1 — Virtual short:  V₊ = V₋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868679" y="2606039"/>
            <a:ext cx="4846322" cy="1867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Vₒᵤₜ = A (V₊ − V₋) with A ~ 10⁵–10⁶.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Vₒᵤₜ is finite (limited by the rails), so the input difference V₊ − V₋ is only a few µV ≈ 0.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Feedback self-corrects: if V₋ dips, Vₒᵤₜ rises and pushes V₋ back up until balance.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If the (+) input is grounded, the (−) input becomes a virtual ground (0 V).</a:t>
            </a:r>
          </a:p>
        </p:txBody>
      </p:sp>
      <p:sp>
        <p:nvSpPr>
          <p:cNvPr id="127" name="Shape 7"/>
          <p:cNvSpPr/>
          <p:nvPr/>
        </p:nvSpPr>
        <p:spPr>
          <a:xfrm>
            <a:off x="6172200" y="1965960"/>
            <a:ext cx="5440680" cy="3200401"/>
          </a:xfrm>
          <a:prstGeom prst="roundRect">
            <a:avLst>
              <a:gd name="adj" fmla="val 1714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8"/>
          <p:cNvSpPr txBox="1"/>
          <p:nvPr/>
        </p:nvSpPr>
        <p:spPr>
          <a:xfrm>
            <a:off x="6492239" y="2175509"/>
            <a:ext cx="4846322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Rule 2 — No input current</a:t>
            </a:r>
          </a:p>
        </p:txBody>
      </p:sp>
      <p:sp>
        <p:nvSpPr>
          <p:cNvPr id="129" name="Text 9"/>
          <p:cNvSpPr txBox="1"/>
          <p:nvPr/>
        </p:nvSpPr>
        <p:spPr>
          <a:xfrm>
            <a:off x="6492239" y="2606039"/>
            <a:ext cx="4846322" cy="178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Input impedance is (near) infinite; only a tiny bias current, pA–nA, flows.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That current is negligible next to the resistor currents → treat it as zero.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So all signal current flows through the external feedback network, never into the op-amp.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232A31"/>
                </a:solidFill>
              </a:defRPr>
            </a:pPr>
            <a:r>
              <a:t>This lets you write a clean KCL node equation at the (−) input.</a:t>
            </a:r>
          </a:p>
        </p:txBody>
      </p:sp>
      <p:sp>
        <p:nvSpPr>
          <p:cNvPr id="130" name="Shape 10"/>
          <p:cNvSpPr/>
          <p:nvPr/>
        </p:nvSpPr>
        <p:spPr>
          <a:xfrm>
            <a:off x="548640" y="5303520"/>
            <a:ext cx="11064241" cy="64008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2C9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1"/>
          <p:cNvSpPr txBox="1"/>
          <p:nvPr/>
        </p:nvSpPr>
        <p:spPr>
          <a:xfrm>
            <a:off x="822959" y="5438579"/>
            <a:ext cx="1060704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B8791C"/>
                </a:solidFill>
              </a:defRPr>
            </a:pPr>
            <a:r>
              <a:t>Caveats:  </a:t>
            </a:r>
            <a:r>
              <a:rPr b="0">
                <a:solidFill>
                  <a:srgbClr val="6C7883"/>
                </a:solidFill>
              </a:rPr>
              <a:t>the residual input difference grows with frequency; offset voltage &amp; bias current matter for tiny signals; the rules fail if the output saturates or if there is no negative feedback.</a:t>
            </a:r>
          </a:p>
        </p:txBody>
      </p:sp>
      <p:sp>
        <p:nvSpPr>
          <p:cNvPr id="132" name="Text 12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  Topic 4</a:t>
            </a:r>
          </a:p>
        </p:txBody>
      </p:sp>
      <p:sp>
        <p:nvSpPr>
          <p:cNvPr id="133" name="Text 13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Worked theory 1 — the inverting amplifier</a:t>
            </a:r>
          </a:p>
        </p:txBody>
      </p:sp>
      <p:sp>
        <p:nvSpPr>
          <p:cNvPr id="139" name="Shape 2"/>
          <p:cNvSpPr/>
          <p:nvPr/>
        </p:nvSpPr>
        <p:spPr>
          <a:xfrm rot="5400000">
            <a:off x="2788919" y="2697479"/>
            <a:ext cx="1371601" cy="1371601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3"/>
          <p:cNvSpPr txBox="1"/>
          <p:nvPr/>
        </p:nvSpPr>
        <p:spPr>
          <a:xfrm>
            <a:off x="2926080" y="2907994"/>
            <a:ext cx="22860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700">
                <a:solidFill>
                  <a:srgbClr val="22282E"/>
                </a:solidFill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141" name="Text 4"/>
          <p:cNvSpPr txBox="1"/>
          <p:nvPr/>
        </p:nvSpPr>
        <p:spPr>
          <a:xfrm>
            <a:off x="2926080" y="3564322"/>
            <a:ext cx="22860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22282E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2" name="Shape 5"/>
          <p:cNvSpPr/>
          <p:nvPr/>
        </p:nvSpPr>
        <p:spPr>
          <a:xfrm>
            <a:off x="777240" y="3246120"/>
            <a:ext cx="27432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6"/>
          <p:cNvSpPr/>
          <p:nvPr/>
        </p:nvSpPr>
        <p:spPr>
          <a:xfrm>
            <a:off x="1165860" y="3118104"/>
            <a:ext cx="777241" cy="256033"/>
          </a:xfrm>
          <a:prstGeom prst="rect">
            <a:avLst/>
          </a:prstGeom>
          <a:solidFill>
            <a:srgbClr val="FFFFFF"/>
          </a:solidFill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7"/>
          <p:cNvSpPr txBox="1"/>
          <p:nvPr/>
        </p:nvSpPr>
        <p:spPr>
          <a:xfrm>
            <a:off x="1005839" y="2778056"/>
            <a:ext cx="1097281" cy="22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B8791C"/>
                </a:solidFill>
              </a:defRPr>
            </a:pPr>
            <a:r>
              <a:t>R</a:t>
            </a:r>
            <a:r>
              <a:rPr baseline="-40000"/>
              <a:t>in</a:t>
            </a:r>
          </a:p>
        </p:txBody>
      </p:sp>
      <p:sp>
        <p:nvSpPr>
          <p:cNvPr id="145" name="Shape 8"/>
          <p:cNvSpPr/>
          <p:nvPr/>
        </p:nvSpPr>
        <p:spPr>
          <a:xfrm>
            <a:off x="1938527" y="3246120"/>
            <a:ext cx="850394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9"/>
          <p:cNvSpPr/>
          <p:nvPr/>
        </p:nvSpPr>
        <p:spPr>
          <a:xfrm>
            <a:off x="2103120" y="3200399"/>
            <a:ext cx="91441" cy="91442"/>
          </a:xfrm>
          <a:prstGeom prst="ellipse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0"/>
          <p:cNvSpPr txBox="1"/>
          <p:nvPr/>
        </p:nvSpPr>
        <p:spPr>
          <a:xfrm>
            <a:off x="274319" y="3148572"/>
            <a:ext cx="50292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22282E"/>
                </a:solidFill>
              </a:defRPr>
            </a:lvl1pPr>
          </a:lstStyle>
          <a:p>
            <a:pPr/>
            <a:r>
              <a:t>Vᵢₙ</a:t>
            </a:r>
          </a:p>
        </p:txBody>
      </p:sp>
      <p:sp>
        <p:nvSpPr>
          <p:cNvPr id="148" name="Shape 11"/>
          <p:cNvSpPr/>
          <p:nvPr/>
        </p:nvSpPr>
        <p:spPr>
          <a:xfrm flipH="1">
            <a:off x="777240" y="3246120"/>
            <a:ext cx="1" cy="128016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12"/>
          <p:cNvSpPr/>
          <p:nvPr/>
        </p:nvSpPr>
        <p:spPr>
          <a:xfrm>
            <a:off x="594359" y="4526279"/>
            <a:ext cx="36576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13"/>
          <p:cNvSpPr/>
          <p:nvPr/>
        </p:nvSpPr>
        <p:spPr>
          <a:xfrm>
            <a:off x="658368" y="4608576"/>
            <a:ext cx="237744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14"/>
          <p:cNvSpPr/>
          <p:nvPr/>
        </p:nvSpPr>
        <p:spPr>
          <a:xfrm>
            <a:off x="722376" y="4690871"/>
            <a:ext cx="109729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5"/>
          <p:cNvSpPr/>
          <p:nvPr/>
        </p:nvSpPr>
        <p:spPr>
          <a:xfrm>
            <a:off x="2148839" y="2286000"/>
            <a:ext cx="1" cy="96012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16"/>
          <p:cNvSpPr/>
          <p:nvPr/>
        </p:nvSpPr>
        <p:spPr>
          <a:xfrm>
            <a:off x="2491739" y="2157983"/>
            <a:ext cx="777241" cy="256033"/>
          </a:xfrm>
          <a:prstGeom prst="rect">
            <a:avLst/>
          </a:prstGeom>
          <a:solidFill>
            <a:srgbClr val="FFFFFF"/>
          </a:solidFill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7"/>
          <p:cNvSpPr txBox="1"/>
          <p:nvPr/>
        </p:nvSpPr>
        <p:spPr>
          <a:xfrm>
            <a:off x="2331720" y="1817935"/>
            <a:ext cx="1097281" cy="22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B8791C"/>
                </a:solidFill>
              </a:defRPr>
            </a:pPr>
            <a:r>
              <a:t>R</a:t>
            </a:r>
            <a:r>
              <a:rPr baseline="-40000"/>
              <a:t>f</a:t>
            </a:r>
          </a:p>
        </p:txBody>
      </p:sp>
      <p:sp>
        <p:nvSpPr>
          <p:cNvPr id="155" name="Shape 18"/>
          <p:cNvSpPr/>
          <p:nvPr/>
        </p:nvSpPr>
        <p:spPr>
          <a:xfrm>
            <a:off x="2148839" y="2286000"/>
            <a:ext cx="338329" cy="0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Shape 19"/>
          <p:cNvSpPr/>
          <p:nvPr/>
        </p:nvSpPr>
        <p:spPr>
          <a:xfrm>
            <a:off x="3273552" y="2286000"/>
            <a:ext cx="1207009" cy="0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20"/>
          <p:cNvSpPr/>
          <p:nvPr/>
        </p:nvSpPr>
        <p:spPr>
          <a:xfrm>
            <a:off x="4480559" y="2285999"/>
            <a:ext cx="1" cy="1097282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Shape 21"/>
          <p:cNvSpPr/>
          <p:nvPr/>
        </p:nvSpPr>
        <p:spPr>
          <a:xfrm>
            <a:off x="4434840" y="3337559"/>
            <a:ext cx="91441" cy="91441"/>
          </a:xfrm>
          <a:prstGeom prst="ellipse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22"/>
          <p:cNvSpPr/>
          <p:nvPr/>
        </p:nvSpPr>
        <p:spPr>
          <a:xfrm>
            <a:off x="4160520" y="3383279"/>
            <a:ext cx="64008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3"/>
          <p:cNvSpPr txBox="1"/>
          <p:nvPr/>
        </p:nvSpPr>
        <p:spPr>
          <a:xfrm>
            <a:off x="4828032" y="3285732"/>
            <a:ext cx="73152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2282E"/>
                </a:solidFill>
              </a:defRPr>
            </a:lvl1pPr>
          </a:lstStyle>
          <a:p>
            <a:pPr/>
            <a:r>
              <a:t>Vₒᵤₜ</a:t>
            </a:r>
          </a:p>
        </p:txBody>
      </p:sp>
      <p:sp>
        <p:nvSpPr>
          <p:cNvPr id="161" name="Shape 24"/>
          <p:cNvSpPr/>
          <p:nvPr/>
        </p:nvSpPr>
        <p:spPr>
          <a:xfrm>
            <a:off x="2331720" y="3703320"/>
            <a:ext cx="45720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25"/>
          <p:cNvSpPr/>
          <p:nvPr/>
        </p:nvSpPr>
        <p:spPr>
          <a:xfrm>
            <a:off x="2331720" y="3703320"/>
            <a:ext cx="1" cy="82296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26"/>
          <p:cNvSpPr/>
          <p:nvPr/>
        </p:nvSpPr>
        <p:spPr>
          <a:xfrm>
            <a:off x="2148839" y="4526279"/>
            <a:ext cx="36576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27"/>
          <p:cNvSpPr/>
          <p:nvPr/>
        </p:nvSpPr>
        <p:spPr>
          <a:xfrm>
            <a:off x="2212848" y="4608576"/>
            <a:ext cx="237744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28"/>
          <p:cNvSpPr/>
          <p:nvPr/>
        </p:nvSpPr>
        <p:spPr>
          <a:xfrm>
            <a:off x="2276855" y="4690871"/>
            <a:ext cx="109729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29"/>
          <p:cNvSpPr txBox="1"/>
          <p:nvPr/>
        </p:nvSpPr>
        <p:spPr>
          <a:xfrm>
            <a:off x="1325880" y="3406184"/>
            <a:ext cx="16459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B8791C"/>
                </a:solidFill>
              </a:defRPr>
            </a:lvl1pPr>
          </a:lstStyle>
          <a:p>
            <a:pPr/>
            <a:r>
              <a:t>virtual ground</a:t>
            </a:r>
          </a:p>
        </p:txBody>
      </p:sp>
      <p:sp>
        <p:nvSpPr>
          <p:cNvPr id="167" name="Text 30"/>
          <p:cNvSpPr txBox="1"/>
          <p:nvPr/>
        </p:nvSpPr>
        <p:spPr>
          <a:xfrm>
            <a:off x="640080" y="5888027"/>
            <a:ext cx="4572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B8791C"/>
                </a:solidFill>
              </a:defRPr>
            </a:pPr>
            <a:r>
              <a:t>Figure 2: </a:t>
            </a:r>
            <a:r>
              <a:rPr b="0" i="1">
                <a:solidFill>
                  <a:srgbClr val="6C7883"/>
                </a:solidFill>
              </a:rPr>
              <a:t>Inverting amplifier </a:t>
            </a:r>
          </a:p>
        </p:txBody>
      </p:sp>
      <p:sp>
        <p:nvSpPr>
          <p:cNvPr id="168" name="Text 31"/>
          <p:cNvSpPr txBox="1"/>
          <p:nvPr/>
        </p:nvSpPr>
        <p:spPr>
          <a:xfrm>
            <a:off x="5806440" y="1375410"/>
            <a:ext cx="58521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Step-by-step (using the golden rules)</a:t>
            </a:r>
          </a:p>
        </p:txBody>
      </p:sp>
      <p:sp>
        <p:nvSpPr>
          <p:cNvPr id="169" name="Shape 32"/>
          <p:cNvSpPr/>
          <p:nvPr/>
        </p:nvSpPr>
        <p:spPr>
          <a:xfrm>
            <a:off x="5760720" y="1920239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33"/>
          <p:cNvSpPr txBox="1"/>
          <p:nvPr/>
        </p:nvSpPr>
        <p:spPr>
          <a:xfrm>
            <a:off x="5760720" y="1972563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1" name="Text 34"/>
          <p:cNvSpPr txBox="1"/>
          <p:nvPr/>
        </p:nvSpPr>
        <p:spPr>
          <a:xfrm>
            <a:off x="6309359" y="1964122"/>
            <a:ext cx="5486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B8791C"/>
                </a:solidFill>
              </a:defRPr>
            </a:lvl1pPr>
          </a:lstStyle>
          <a:p>
            <a:pPr/>
            <a:r>
              <a:t>Virtual short</a:t>
            </a:r>
          </a:p>
        </p:txBody>
      </p:sp>
      <p:sp>
        <p:nvSpPr>
          <p:cNvPr id="172" name="Text 35"/>
          <p:cNvSpPr txBox="1"/>
          <p:nvPr/>
        </p:nvSpPr>
        <p:spPr>
          <a:xfrm>
            <a:off x="6309359" y="2402771"/>
            <a:ext cx="548640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232A31"/>
                </a:solidFill>
              </a:defRPr>
            </a:lvl1pPr>
          </a:lstStyle>
          <a:p>
            <a:pPr/>
            <a:r>
              <a:t>The (+) input is grounded, so feedback holds the (−) input at 0 V — a virtual ground.</a:t>
            </a:r>
          </a:p>
        </p:txBody>
      </p:sp>
      <p:sp>
        <p:nvSpPr>
          <p:cNvPr id="173" name="Shape 36"/>
          <p:cNvSpPr/>
          <p:nvPr/>
        </p:nvSpPr>
        <p:spPr>
          <a:xfrm>
            <a:off x="5760720" y="2971800"/>
            <a:ext cx="384049" cy="384048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37"/>
          <p:cNvSpPr txBox="1"/>
          <p:nvPr/>
        </p:nvSpPr>
        <p:spPr>
          <a:xfrm>
            <a:off x="5760720" y="3024123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5" name="Text 38"/>
          <p:cNvSpPr txBox="1"/>
          <p:nvPr/>
        </p:nvSpPr>
        <p:spPr>
          <a:xfrm>
            <a:off x="6309359" y="3015681"/>
            <a:ext cx="5486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B8791C"/>
                </a:solidFill>
              </a:defRPr>
            </a:lvl1pPr>
          </a:lstStyle>
          <a:p>
            <a:pPr/>
            <a:r>
              <a:t>No input current</a:t>
            </a:r>
          </a:p>
        </p:txBody>
      </p:sp>
      <p:sp>
        <p:nvSpPr>
          <p:cNvPr id="176" name="Text 39"/>
          <p:cNvSpPr txBox="1"/>
          <p:nvPr/>
        </p:nvSpPr>
        <p:spPr>
          <a:xfrm>
            <a:off x="6309359" y="3527863"/>
            <a:ext cx="5486401" cy="22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232A31"/>
                </a:solidFill>
              </a:defRPr>
            </a:pPr>
            <a:r>
              <a:t>No current enters the op-amp, so the input current continues through R</a:t>
            </a:r>
            <a:r>
              <a:rPr baseline="-40000"/>
              <a:t>f</a:t>
            </a:r>
            <a:r>
              <a:t>.</a:t>
            </a:r>
          </a:p>
        </p:txBody>
      </p:sp>
      <p:sp>
        <p:nvSpPr>
          <p:cNvPr id="177" name="Shape 40"/>
          <p:cNvSpPr/>
          <p:nvPr/>
        </p:nvSpPr>
        <p:spPr>
          <a:xfrm>
            <a:off x="5760720" y="4023359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41"/>
          <p:cNvSpPr txBox="1"/>
          <p:nvPr/>
        </p:nvSpPr>
        <p:spPr>
          <a:xfrm>
            <a:off x="5760720" y="4075683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9" name="Text 42"/>
          <p:cNvSpPr txBox="1"/>
          <p:nvPr/>
        </p:nvSpPr>
        <p:spPr>
          <a:xfrm>
            <a:off x="6309359" y="4067242"/>
            <a:ext cx="5486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B8791C"/>
                </a:solidFill>
              </a:defRPr>
            </a:lvl1pPr>
          </a:lstStyle>
          <a:p>
            <a:pPr/>
            <a:r>
              <a:t>KCL at the (−) node</a:t>
            </a:r>
          </a:p>
        </p:txBody>
      </p:sp>
      <p:sp>
        <p:nvSpPr>
          <p:cNvPr id="180" name="Text 43"/>
          <p:cNvSpPr txBox="1"/>
          <p:nvPr/>
        </p:nvSpPr>
        <p:spPr>
          <a:xfrm>
            <a:off x="6309359" y="4294608"/>
            <a:ext cx="822961" cy="19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1300">
                <a:solidFill>
                  <a:srgbClr val="232A31"/>
                </a:solidFill>
              </a:defRPr>
            </a:lvl1pPr>
          </a:lstStyle>
          <a:p>
            <a:pPr/>
            <a:r>
              <a:t>Vᵢₙ</a:t>
            </a:r>
          </a:p>
        </p:txBody>
      </p:sp>
      <p:sp>
        <p:nvSpPr>
          <p:cNvPr id="181" name="Shape 44"/>
          <p:cNvSpPr/>
          <p:nvPr/>
        </p:nvSpPr>
        <p:spPr>
          <a:xfrm>
            <a:off x="6336791" y="4526279"/>
            <a:ext cx="768097" cy="1"/>
          </a:xfrm>
          <a:prstGeom prst="line">
            <a:avLst/>
          </a:prstGeom>
          <a:ln w="22225">
            <a:solidFill>
              <a:srgbClr val="232A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45"/>
          <p:cNvSpPr txBox="1"/>
          <p:nvPr/>
        </p:nvSpPr>
        <p:spPr>
          <a:xfrm>
            <a:off x="6309359" y="4571999"/>
            <a:ext cx="822961" cy="22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232A31"/>
                </a:solidFill>
              </a:defRPr>
            </a:pPr>
            <a:r>
              <a:t>R</a:t>
            </a:r>
            <a:r>
              <a:rPr baseline="-40000"/>
              <a:t>in</a:t>
            </a:r>
          </a:p>
        </p:txBody>
      </p:sp>
      <p:sp>
        <p:nvSpPr>
          <p:cNvPr id="183" name="Text 46"/>
          <p:cNvSpPr txBox="1"/>
          <p:nvPr/>
        </p:nvSpPr>
        <p:spPr>
          <a:xfrm>
            <a:off x="7269480" y="4394271"/>
            <a:ext cx="274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232A31"/>
                </a:solidFill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184" name="Text 47"/>
          <p:cNvSpPr txBox="1"/>
          <p:nvPr/>
        </p:nvSpPr>
        <p:spPr>
          <a:xfrm>
            <a:off x="7589519" y="4394271"/>
            <a:ext cx="274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232A31"/>
                </a:solidFill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185" name="Text 48"/>
          <p:cNvSpPr txBox="1"/>
          <p:nvPr/>
        </p:nvSpPr>
        <p:spPr>
          <a:xfrm>
            <a:off x="7955280" y="4294608"/>
            <a:ext cx="822961" cy="195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1300">
                <a:solidFill>
                  <a:srgbClr val="232A31"/>
                </a:solidFill>
              </a:defRPr>
            </a:lvl1pPr>
          </a:lstStyle>
          <a:p>
            <a:pPr/>
            <a:r>
              <a:t>Vₒᵤₜ</a:t>
            </a:r>
          </a:p>
        </p:txBody>
      </p:sp>
      <p:sp>
        <p:nvSpPr>
          <p:cNvPr id="186" name="Shape 49"/>
          <p:cNvSpPr/>
          <p:nvPr/>
        </p:nvSpPr>
        <p:spPr>
          <a:xfrm>
            <a:off x="7982711" y="4526279"/>
            <a:ext cx="768097" cy="1"/>
          </a:xfrm>
          <a:prstGeom prst="line">
            <a:avLst/>
          </a:prstGeom>
          <a:ln w="22225">
            <a:solidFill>
              <a:srgbClr val="232A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50"/>
          <p:cNvSpPr txBox="1"/>
          <p:nvPr/>
        </p:nvSpPr>
        <p:spPr>
          <a:xfrm>
            <a:off x="7955280" y="4571999"/>
            <a:ext cx="822961" cy="22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232A31"/>
                </a:solidFill>
              </a:defRPr>
            </a:pPr>
            <a:r>
              <a:t>R</a:t>
            </a:r>
            <a:r>
              <a:rPr baseline="-40000"/>
              <a:t>f</a:t>
            </a:r>
          </a:p>
        </p:txBody>
      </p:sp>
      <p:sp>
        <p:nvSpPr>
          <p:cNvPr id="188" name="Shape 51"/>
          <p:cNvSpPr/>
          <p:nvPr/>
        </p:nvSpPr>
        <p:spPr>
          <a:xfrm>
            <a:off x="5760720" y="4892040"/>
            <a:ext cx="5989321" cy="960121"/>
          </a:xfrm>
          <a:prstGeom prst="roundRect">
            <a:avLst>
              <a:gd name="adj" fmla="val 5714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52"/>
          <p:cNvSpPr txBox="1"/>
          <p:nvPr/>
        </p:nvSpPr>
        <p:spPr>
          <a:xfrm>
            <a:off x="5989320" y="5278822"/>
            <a:ext cx="914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Result:</a:t>
            </a:r>
          </a:p>
        </p:txBody>
      </p:sp>
      <p:sp>
        <p:nvSpPr>
          <p:cNvPr id="190" name="Text 53"/>
          <p:cNvSpPr txBox="1"/>
          <p:nvPr/>
        </p:nvSpPr>
        <p:spPr>
          <a:xfrm>
            <a:off x="6857999" y="5235568"/>
            <a:ext cx="1234442" cy="273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Vₒᵤₜ  =  −</a:t>
            </a:r>
          </a:p>
        </p:txBody>
      </p:sp>
      <p:sp>
        <p:nvSpPr>
          <p:cNvPr id="191" name="Text 54"/>
          <p:cNvSpPr txBox="1"/>
          <p:nvPr/>
        </p:nvSpPr>
        <p:spPr>
          <a:xfrm>
            <a:off x="7716195" y="5115741"/>
            <a:ext cx="868681" cy="27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R</a:t>
            </a:r>
            <a:r>
              <a:rPr baseline="-40000"/>
              <a:t>f</a:t>
            </a:r>
          </a:p>
        </p:txBody>
      </p:sp>
      <p:sp>
        <p:nvSpPr>
          <p:cNvPr id="192" name="Shape 55"/>
          <p:cNvSpPr/>
          <p:nvPr/>
        </p:nvSpPr>
        <p:spPr>
          <a:xfrm>
            <a:off x="7743627" y="5394960"/>
            <a:ext cx="813817" cy="1"/>
          </a:xfrm>
          <a:prstGeom prst="line">
            <a:avLst/>
          </a:prstGeom>
          <a:ln w="22225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56"/>
          <p:cNvSpPr txBox="1"/>
          <p:nvPr/>
        </p:nvSpPr>
        <p:spPr>
          <a:xfrm>
            <a:off x="7713306" y="5550999"/>
            <a:ext cx="868681" cy="27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R</a:t>
            </a:r>
            <a:r>
              <a:rPr baseline="-40000"/>
              <a:t>in</a:t>
            </a:r>
          </a:p>
        </p:txBody>
      </p:sp>
      <p:sp>
        <p:nvSpPr>
          <p:cNvPr id="194" name="Text 57"/>
          <p:cNvSpPr txBox="1"/>
          <p:nvPr/>
        </p:nvSpPr>
        <p:spPr>
          <a:xfrm>
            <a:off x="8673427" y="5235568"/>
            <a:ext cx="1188721" cy="273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·  Vᵢₙ</a:t>
            </a:r>
          </a:p>
        </p:txBody>
      </p:sp>
      <p:sp>
        <p:nvSpPr>
          <p:cNvPr id="195" name="Text 58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Topic 4</a:t>
            </a:r>
          </a:p>
        </p:txBody>
      </p:sp>
      <p:sp>
        <p:nvSpPr>
          <p:cNvPr id="196" name="Text 59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Worked theory 2 — the non-inverting amplifier</a:t>
            </a:r>
          </a:p>
        </p:txBody>
      </p:sp>
      <p:sp>
        <p:nvSpPr>
          <p:cNvPr id="202" name="Shape 2"/>
          <p:cNvSpPr/>
          <p:nvPr/>
        </p:nvSpPr>
        <p:spPr>
          <a:xfrm rot="5400000">
            <a:off x="2926079" y="2697480"/>
            <a:ext cx="1554481" cy="155448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3"/>
          <p:cNvSpPr txBox="1"/>
          <p:nvPr/>
        </p:nvSpPr>
        <p:spPr>
          <a:xfrm>
            <a:off x="3063240" y="2912943"/>
            <a:ext cx="2286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22282E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04" name="Text 4"/>
          <p:cNvSpPr txBox="1"/>
          <p:nvPr/>
        </p:nvSpPr>
        <p:spPr>
          <a:xfrm>
            <a:off x="3063240" y="3639514"/>
            <a:ext cx="22860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700">
                <a:solidFill>
                  <a:srgbClr val="22282E"/>
                </a:solidFill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05" name="Shape 5"/>
          <p:cNvSpPr/>
          <p:nvPr/>
        </p:nvSpPr>
        <p:spPr>
          <a:xfrm>
            <a:off x="822959" y="3063239"/>
            <a:ext cx="2103122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6"/>
          <p:cNvSpPr txBox="1"/>
          <p:nvPr/>
        </p:nvSpPr>
        <p:spPr>
          <a:xfrm>
            <a:off x="320040" y="2965692"/>
            <a:ext cx="502920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300">
                <a:solidFill>
                  <a:srgbClr val="22282E"/>
                </a:solidFill>
              </a:defRPr>
            </a:lvl1pPr>
          </a:lstStyle>
          <a:p>
            <a:pPr/>
            <a:r>
              <a:t>Vᵢₙ</a:t>
            </a:r>
          </a:p>
        </p:txBody>
      </p:sp>
      <p:sp>
        <p:nvSpPr>
          <p:cNvPr id="207" name="Shape 7"/>
          <p:cNvSpPr/>
          <p:nvPr/>
        </p:nvSpPr>
        <p:spPr>
          <a:xfrm>
            <a:off x="2377439" y="3794759"/>
            <a:ext cx="54864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Shape 8"/>
          <p:cNvSpPr/>
          <p:nvPr/>
        </p:nvSpPr>
        <p:spPr>
          <a:xfrm>
            <a:off x="2331720" y="3749040"/>
            <a:ext cx="91441" cy="91441"/>
          </a:xfrm>
          <a:prstGeom prst="ellipse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9"/>
          <p:cNvSpPr/>
          <p:nvPr/>
        </p:nvSpPr>
        <p:spPr>
          <a:xfrm>
            <a:off x="1645920" y="3794759"/>
            <a:ext cx="73152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10"/>
          <p:cNvSpPr/>
          <p:nvPr/>
        </p:nvSpPr>
        <p:spPr>
          <a:xfrm>
            <a:off x="1517903" y="4023359"/>
            <a:ext cx="256033" cy="640081"/>
          </a:xfrm>
          <a:prstGeom prst="rect">
            <a:avLst/>
          </a:prstGeom>
          <a:solidFill>
            <a:srgbClr val="FFFFFF"/>
          </a:solidFill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1"/>
          <p:cNvSpPr txBox="1"/>
          <p:nvPr/>
        </p:nvSpPr>
        <p:spPr>
          <a:xfrm>
            <a:off x="1828800" y="4231952"/>
            <a:ext cx="914400" cy="22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B8791C"/>
                </a:solidFill>
              </a:defRPr>
            </a:pPr>
            <a:r>
              <a:t>R</a:t>
            </a:r>
            <a:r>
              <a:rPr baseline="-40000"/>
              <a:t>1</a:t>
            </a:r>
          </a:p>
        </p:txBody>
      </p:sp>
      <p:sp>
        <p:nvSpPr>
          <p:cNvPr id="212" name="Shape 12"/>
          <p:cNvSpPr/>
          <p:nvPr/>
        </p:nvSpPr>
        <p:spPr>
          <a:xfrm>
            <a:off x="1645920" y="3794759"/>
            <a:ext cx="1" cy="22860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13"/>
          <p:cNvSpPr/>
          <p:nvPr/>
        </p:nvSpPr>
        <p:spPr>
          <a:xfrm>
            <a:off x="1645920" y="4663440"/>
            <a:ext cx="1" cy="27432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14"/>
          <p:cNvSpPr/>
          <p:nvPr/>
        </p:nvSpPr>
        <p:spPr>
          <a:xfrm>
            <a:off x="1463039" y="4937759"/>
            <a:ext cx="36576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15"/>
          <p:cNvSpPr/>
          <p:nvPr/>
        </p:nvSpPr>
        <p:spPr>
          <a:xfrm>
            <a:off x="1527047" y="5020055"/>
            <a:ext cx="237744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16"/>
          <p:cNvSpPr/>
          <p:nvPr/>
        </p:nvSpPr>
        <p:spPr>
          <a:xfrm>
            <a:off x="1591055" y="5102352"/>
            <a:ext cx="109729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17"/>
          <p:cNvSpPr/>
          <p:nvPr/>
        </p:nvSpPr>
        <p:spPr>
          <a:xfrm>
            <a:off x="2377439" y="3794759"/>
            <a:ext cx="1" cy="82296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8"/>
          <p:cNvSpPr/>
          <p:nvPr/>
        </p:nvSpPr>
        <p:spPr>
          <a:xfrm>
            <a:off x="2811779" y="4489703"/>
            <a:ext cx="777241" cy="256033"/>
          </a:xfrm>
          <a:prstGeom prst="rect">
            <a:avLst/>
          </a:prstGeom>
          <a:solidFill>
            <a:srgbClr val="FFFFFF"/>
          </a:solidFill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9"/>
          <p:cNvSpPr txBox="1"/>
          <p:nvPr/>
        </p:nvSpPr>
        <p:spPr>
          <a:xfrm>
            <a:off x="2651760" y="4149656"/>
            <a:ext cx="1097281" cy="22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B8791C"/>
                </a:solidFill>
              </a:defRPr>
            </a:pPr>
            <a:r>
              <a:t>R</a:t>
            </a:r>
            <a:r>
              <a:rPr baseline="-40000"/>
              <a:t>f</a:t>
            </a:r>
          </a:p>
        </p:txBody>
      </p:sp>
      <p:sp>
        <p:nvSpPr>
          <p:cNvPr id="220" name="Shape 20"/>
          <p:cNvSpPr/>
          <p:nvPr/>
        </p:nvSpPr>
        <p:spPr>
          <a:xfrm>
            <a:off x="2377439" y="4617720"/>
            <a:ext cx="43434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21"/>
          <p:cNvSpPr/>
          <p:nvPr/>
        </p:nvSpPr>
        <p:spPr>
          <a:xfrm>
            <a:off x="3589020" y="4617720"/>
            <a:ext cx="134874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22"/>
          <p:cNvSpPr/>
          <p:nvPr/>
        </p:nvSpPr>
        <p:spPr>
          <a:xfrm>
            <a:off x="4937759" y="3474720"/>
            <a:ext cx="1" cy="114300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23"/>
          <p:cNvSpPr/>
          <p:nvPr/>
        </p:nvSpPr>
        <p:spPr>
          <a:xfrm>
            <a:off x="4892040" y="3428999"/>
            <a:ext cx="91441" cy="91442"/>
          </a:xfrm>
          <a:prstGeom prst="ellipse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24"/>
          <p:cNvSpPr/>
          <p:nvPr/>
        </p:nvSpPr>
        <p:spPr>
          <a:xfrm>
            <a:off x="4480559" y="3474720"/>
            <a:ext cx="1097281" cy="1"/>
          </a:xfrm>
          <a:prstGeom prst="line">
            <a:avLst/>
          </a:prstGeom>
          <a:ln w="25400">
            <a:solidFill>
              <a:srgbClr val="22282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25"/>
          <p:cNvSpPr txBox="1"/>
          <p:nvPr/>
        </p:nvSpPr>
        <p:spPr>
          <a:xfrm>
            <a:off x="5605271" y="3377172"/>
            <a:ext cx="731521" cy="195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2282E"/>
                </a:solidFill>
              </a:defRPr>
            </a:lvl1pPr>
          </a:lstStyle>
          <a:p>
            <a:pPr/>
            <a:r>
              <a:t>Vₒᵤₜ</a:t>
            </a:r>
          </a:p>
        </p:txBody>
      </p:sp>
      <p:sp>
        <p:nvSpPr>
          <p:cNvPr id="226" name="Text 26"/>
          <p:cNvSpPr txBox="1"/>
          <p:nvPr/>
        </p:nvSpPr>
        <p:spPr>
          <a:xfrm>
            <a:off x="640080" y="588802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B8791C"/>
                </a:solidFill>
              </a:defRPr>
            </a:pPr>
            <a:r>
              <a:t>Figure 3: </a:t>
            </a:r>
            <a:r>
              <a:rPr b="0" i="1">
                <a:solidFill>
                  <a:srgbClr val="6C7883"/>
                </a:solidFill>
              </a:rPr>
              <a:t>Non-inverting amplifier </a:t>
            </a:r>
          </a:p>
        </p:txBody>
      </p:sp>
      <p:sp>
        <p:nvSpPr>
          <p:cNvPr id="227" name="Text 27"/>
          <p:cNvSpPr txBox="1"/>
          <p:nvPr/>
        </p:nvSpPr>
        <p:spPr>
          <a:xfrm>
            <a:off x="6446519" y="1375410"/>
            <a:ext cx="5212082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Step-by-step (using the golden rules)</a:t>
            </a:r>
          </a:p>
        </p:txBody>
      </p:sp>
      <p:sp>
        <p:nvSpPr>
          <p:cNvPr id="228" name="Shape 28"/>
          <p:cNvSpPr/>
          <p:nvPr/>
        </p:nvSpPr>
        <p:spPr>
          <a:xfrm>
            <a:off x="6400800" y="1920239"/>
            <a:ext cx="384048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29"/>
          <p:cNvSpPr txBox="1"/>
          <p:nvPr/>
        </p:nvSpPr>
        <p:spPr>
          <a:xfrm>
            <a:off x="6400800" y="1972563"/>
            <a:ext cx="38404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0" name="Text 30"/>
          <p:cNvSpPr txBox="1"/>
          <p:nvPr/>
        </p:nvSpPr>
        <p:spPr>
          <a:xfrm>
            <a:off x="6949440" y="2042294"/>
            <a:ext cx="47548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B8791C"/>
                </a:solidFill>
              </a:defRPr>
            </a:lvl1pPr>
          </a:lstStyle>
          <a:p>
            <a:pPr/>
            <a:r>
              <a:t>Virtual short</a:t>
            </a:r>
          </a:p>
        </p:txBody>
      </p:sp>
      <p:sp>
        <p:nvSpPr>
          <p:cNvPr id="231" name="Text 31"/>
          <p:cNvSpPr txBox="1"/>
          <p:nvPr/>
        </p:nvSpPr>
        <p:spPr>
          <a:xfrm>
            <a:off x="6949440" y="2484997"/>
            <a:ext cx="4800601" cy="25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232A31"/>
                </a:solidFill>
              </a:defRPr>
            </a:pPr>
            <a:r>
              <a:t>V₋ = V₊ = Vᵢₙ, so the R₁–R</a:t>
            </a:r>
            <a:r>
              <a:rPr baseline="-40000"/>
              <a:t>f</a:t>
            </a:r>
            <a:r>
              <a:t> divider sees Vₒᵤₜ across it and Vᵢₙ at its tap.</a:t>
            </a:r>
          </a:p>
        </p:txBody>
      </p:sp>
      <p:sp>
        <p:nvSpPr>
          <p:cNvPr id="232" name="Shape 32"/>
          <p:cNvSpPr/>
          <p:nvPr/>
        </p:nvSpPr>
        <p:spPr>
          <a:xfrm>
            <a:off x="6400800" y="2971800"/>
            <a:ext cx="384048" cy="384048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33"/>
          <p:cNvSpPr txBox="1"/>
          <p:nvPr/>
        </p:nvSpPr>
        <p:spPr>
          <a:xfrm>
            <a:off x="6400800" y="3024123"/>
            <a:ext cx="38404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4" name="Text 34"/>
          <p:cNvSpPr txBox="1"/>
          <p:nvPr/>
        </p:nvSpPr>
        <p:spPr>
          <a:xfrm>
            <a:off x="6949440" y="3070545"/>
            <a:ext cx="475488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B8791C"/>
                </a:solidFill>
              </a:defRPr>
            </a:lvl1pPr>
          </a:lstStyle>
          <a:p>
            <a:pPr/>
            <a:r>
              <a:t>Current in R₁</a:t>
            </a:r>
          </a:p>
        </p:txBody>
      </p:sp>
      <p:sp>
        <p:nvSpPr>
          <p:cNvPr id="235" name="Shape 35"/>
          <p:cNvSpPr/>
          <p:nvPr/>
        </p:nvSpPr>
        <p:spPr>
          <a:xfrm>
            <a:off x="6400800" y="4023359"/>
            <a:ext cx="384048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36"/>
          <p:cNvSpPr txBox="1"/>
          <p:nvPr/>
        </p:nvSpPr>
        <p:spPr>
          <a:xfrm>
            <a:off x="6400800" y="4075683"/>
            <a:ext cx="38404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7" name="Text 37"/>
          <p:cNvSpPr txBox="1"/>
          <p:nvPr/>
        </p:nvSpPr>
        <p:spPr>
          <a:xfrm>
            <a:off x="6949440" y="4107136"/>
            <a:ext cx="4754881" cy="251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B8791C"/>
                </a:solidFill>
              </a:defRPr>
            </a:pPr>
            <a:r>
              <a:t>Same I through R</a:t>
            </a:r>
            <a:r>
              <a:rPr baseline="-40000"/>
              <a:t>f</a:t>
            </a:r>
          </a:p>
        </p:txBody>
      </p:sp>
      <p:sp>
        <p:nvSpPr>
          <p:cNvPr id="238" name="Text 38"/>
          <p:cNvSpPr txBox="1"/>
          <p:nvPr/>
        </p:nvSpPr>
        <p:spPr>
          <a:xfrm>
            <a:off x="6949440" y="4588117"/>
            <a:ext cx="4800601" cy="25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232A31"/>
                </a:solidFill>
              </a:defRPr>
            </a:pPr>
            <a:r>
              <a:t>No input current, so that same I flows through R</a:t>
            </a:r>
            <a:r>
              <a:rPr baseline="-40000"/>
              <a:t>f</a:t>
            </a:r>
            <a:r>
              <a:t>: Vₒᵤₜ = Vᵢₙ + I·R</a:t>
            </a:r>
            <a:r>
              <a:rPr baseline="-40000"/>
              <a:t>f</a:t>
            </a:r>
            <a:r>
              <a:t>.</a:t>
            </a:r>
          </a:p>
        </p:txBody>
      </p:sp>
      <p:sp>
        <p:nvSpPr>
          <p:cNvPr id="239" name="Text 39"/>
          <p:cNvSpPr txBox="1"/>
          <p:nvPr/>
        </p:nvSpPr>
        <p:spPr>
          <a:xfrm>
            <a:off x="6949440" y="3444048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32A31"/>
                </a:solidFill>
              </a:defRPr>
            </a:lvl1pPr>
          </a:lstStyle>
          <a:p>
            <a:pPr/>
            <a:r>
              <a:t>I  =</a:t>
            </a:r>
          </a:p>
        </p:txBody>
      </p:sp>
      <p:sp>
        <p:nvSpPr>
          <p:cNvPr id="240" name="Text 40"/>
          <p:cNvSpPr txBox="1"/>
          <p:nvPr/>
        </p:nvSpPr>
        <p:spPr>
          <a:xfrm>
            <a:off x="7475219" y="3320110"/>
            <a:ext cx="685801" cy="182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1200">
                <a:solidFill>
                  <a:srgbClr val="232A31"/>
                </a:solidFill>
              </a:defRPr>
            </a:lvl1pPr>
          </a:lstStyle>
          <a:p>
            <a:pPr/>
            <a:r>
              <a:t>Vᵢₙ</a:t>
            </a:r>
          </a:p>
        </p:txBody>
      </p:sp>
      <p:sp>
        <p:nvSpPr>
          <p:cNvPr id="241" name="Shape 41"/>
          <p:cNvSpPr/>
          <p:nvPr/>
        </p:nvSpPr>
        <p:spPr>
          <a:xfrm>
            <a:off x="7502652" y="3538728"/>
            <a:ext cx="630937" cy="1"/>
          </a:xfrm>
          <a:prstGeom prst="line">
            <a:avLst/>
          </a:prstGeom>
          <a:ln w="22225">
            <a:solidFill>
              <a:srgbClr val="232A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42"/>
          <p:cNvSpPr txBox="1"/>
          <p:nvPr/>
        </p:nvSpPr>
        <p:spPr>
          <a:xfrm>
            <a:off x="7475219" y="3584447"/>
            <a:ext cx="685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232A31"/>
                </a:solidFill>
              </a:defRPr>
            </a:lvl1pPr>
          </a:lstStyle>
          <a:p>
            <a:pPr/>
            <a:r>
              <a:t>R₁</a:t>
            </a:r>
          </a:p>
        </p:txBody>
      </p:sp>
      <p:sp>
        <p:nvSpPr>
          <p:cNvPr id="243" name="Text 43"/>
          <p:cNvSpPr txBox="1"/>
          <p:nvPr/>
        </p:nvSpPr>
        <p:spPr>
          <a:xfrm>
            <a:off x="8275319" y="3460295"/>
            <a:ext cx="34747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C7883"/>
                </a:solidFill>
              </a:defRPr>
            </a:lvl1pPr>
          </a:lstStyle>
          <a:p>
            <a:pPr/>
            <a:r>
              <a:t>(from the − node to ground)</a:t>
            </a:r>
          </a:p>
        </p:txBody>
      </p:sp>
      <p:sp>
        <p:nvSpPr>
          <p:cNvPr id="244" name="Shape 44"/>
          <p:cNvSpPr/>
          <p:nvPr/>
        </p:nvSpPr>
        <p:spPr>
          <a:xfrm>
            <a:off x="6400800" y="4892040"/>
            <a:ext cx="5349241" cy="960121"/>
          </a:xfrm>
          <a:prstGeom prst="roundRect">
            <a:avLst>
              <a:gd name="adj" fmla="val 5714"/>
            </a:avLst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45"/>
          <p:cNvSpPr txBox="1"/>
          <p:nvPr/>
        </p:nvSpPr>
        <p:spPr>
          <a:xfrm>
            <a:off x="6583680" y="5278822"/>
            <a:ext cx="868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Result:</a:t>
            </a:r>
          </a:p>
        </p:txBody>
      </p:sp>
      <p:sp>
        <p:nvSpPr>
          <p:cNvPr id="246" name="Text 46"/>
          <p:cNvSpPr txBox="1"/>
          <p:nvPr/>
        </p:nvSpPr>
        <p:spPr>
          <a:xfrm>
            <a:off x="7406640" y="5242095"/>
            <a:ext cx="1691641" cy="260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Vₒᵤₜ  =  ( 1 +</a:t>
            </a:r>
          </a:p>
        </p:txBody>
      </p:sp>
      <p:sp>
        <p:nvSpPr>
          <p:cNvPr id="247" name="Text 47"/>
          <p:cNvSpPr txBox="1"/>
          <p:nvPr/>
        </p:nvSpPr>
        <p:spPr>
          <a:xfrm>
            <a:off x="8573320" y="5071905"/>
            <a:ext cx="777241" cy="251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R</a:t>
            </a:r>
            <a:r>
              <a:rPr baseline="-40000"/>
              <a:t>f</a:t>
            </a:r>
          </a:p>
        </p:txBody>
      </p:sp>
      <p:sp>
        <p:nvSpPr>
          <p:cNvPr id="248" name="Shape 48"/>
          <p:cNvSpPr/>
          <p:nvPr/>
        </p:nvSpPr>
        <p:spPr>
          <a:xfrm>
            <a:off x="8600752" y="5383453"/>
            <a:ext cx="722377" cy="1"/>
          </a:xfrm>
          <a:prstGeom prst="line">
            <a:avLst/>
          </a:prstGeom>
          <a:ln w="22225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49"/>
          <p:cNvSpPr txBox="1"/>
          <p:nvPr/>
        </p:nvSpPr>
        <p:spPr>
          <a:xfrm>
            <a:off x="8600752" y="5446268"/>
            <a:ext cx="7772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R₁</a:t>
            </a:r>
          </a:p>
        </p:txBody>
      </p:sp>
      <p:sp>
        <p:nvSpPr>
          <p:cNvPr id="250" name="Text 50"/>
          <p:cNvSpPr txBox="1"/>
          <p:nvPr/>
        </p:nvSpPr>
        <p:spPr>
          <a:xfrm>
            <a:off x="9380517" y="5236450"/>
            <a:ext cx="1554481" cy="260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) ·  Vᵢₙ</a:t>
            </a:r>
          </a:p>
        </p:txBody>
      </p:sp>
      <p:sp>
        <p:nvSpPr>
          <p:cNvPr id="251" name="Text 51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 Topic 4</a:t>
            </a:r>
          </a:p>
        </p:txBody>
      </p:sp>
      <p:sp>
        <p:nvSpPr>
          <p:cNvPr id="252" name="Text 52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The real op-amp: non-idealities that matter</a:t>
            </a:r>
          </a:p>
        </p:txBody>
      </p:sp>
      <p:sp>
        <p:nvSpPr>
          <p:cNvPr id="258" name="Text 2"/>
          <p:cNvSpPr txBox="1"/>
          <p:nvPr/>
        </p:nvSpPr>
        <p:spPr>
          <a:xfrm>
            <a:off x="914400" y="1186881"/>
            <a:ext cx="108813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6C7883"/>
                </a:solidFill>
              </a:defRPr>
            </a:lvl1pPr>
          </a:lstStyle>
          <a:p>
            <a:pPr/>
            <a:r>
              <a:t>Finite gain, finite bandwidth and small DC errors set the true limits of a precision circuit.</a:t>
            </a:r>
          </a:p>
        </p:txBody>
      </p:sp>
      <p:sp>
        <p:nvSpPr>
          <p:cNvPr id="259" name="Shape 3"/>
          <p:cNvSpPr/>
          <p:nvPr/>
        </p:nvSpPr>
        <p:spPr>
          <a:xfrm>
            <a:off x="548640" y="1645920"/>
            <a:ext cx="3566160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hape 4"/>
          <p:cNvSpPr/>
          <p:nvPr/>
        </p:nvSpPr>
        <p:spPr>
          <a:xfrm>
            <a:off x="777239" y="1920239"/>
            <a:ext cx="868682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5"/>
          <p:cNvSpPr txBox="1"/>
          <p:nvPr/>
        </p:nvSpPr>
        <p:spPr>
          <a:xfrm>
            <a:off x="777239" y="2243978"/>
            <a:ext cx="868682" cy="22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Aₒₗ</a:t>
            </a:r>
          </a:p>
        </p:txBody>
      </p:sp>
      <p:sp>
        <p:nvSpPr>
          <p:cNvPr id="262" name="Text 6"/>
          <p:cNvSpPr txBox="1"/>
          <p:nvPr/>
        </p:nvSpPr>
        <p:spPr>
          <a:xfrm>
            <a:off x="1783079" y="1954276"/>
            <a:ext cx="21488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10⁵–10⁶</a:t>
            </a:r>
          </a:p>
        </p:txBody>
      </p:sp>
      <p:sp>
        <p:nvSpPr>
          <p:cNvPr id="263" name="Text 7"/>
          <p:cNvSpPr txBox="1"/>
          <p:nvPr/>
        </p:nvSpPr>
        <p:spPr>
          <a:xfrm>
            <a:off x="1783079" y="2446835"/>
            <a:ext cx="210312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Finite open-loop gain — large but not infinite; sets closed-loop accuracy.</a:t>
            </a:r>
          </a:p>
        </p:txBody>
      </p:sp>
      <p:sp>
        <p:nvSpPr>
          <p:cNvPr id="264" name="Shape 8"/>
          <p:cNvSpPr/>
          <p:nvPr/>
        </p:nvSpPr>
        <p:spPr>
          <a:xfrm>
            <a:off x="4343400" y="1645920"/>
            <a:ext cx="3566160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9"/>
          <p:cNvSpPr/>
          <p:nvPr/>
        </p:nvSpPr>
        <p:spPr>
          <a:xfrm>
            <a:off x="4571999" y="1920239"/>
            <a:ext cx="868682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10"/>
          <p:cNvSpPr txBox="1"/>
          <p:nvPr/>
        </p:nvSpPr>
        <p:spPr>
          <a:xfrm>
            <a:off x="4571999" y="2261301"/>
            <a:ext cx="868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GBW</a:t>
            </a:r>
          </a:p>
        </p:txBody>
      </p:sp>
      <p:sp>
        <p:nvSpPr>
          <p:cNvPr id="267" name="Text 11"/>
          <p:cNvSpPr txBox="1"/>
          <p:nvPr/>
        </p:nvSpPr>
        <p:spPr>
          <a:xfrm>
            <a:off x="5577840" y="1954276"/>
            <a:ext cx="21488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~1–100 MHz</a:t>
            </a:r>
          </a:p>
        </p:txBody>
      </p:sp>
      <p:sp>
        <p:nvSpPr>
          <p:cNvPr id="268" name="Text 12"/>
          <p:cNvSpPr txBox="1"/>
          <p:nvPr/>
        </p:nvSpPr>
        <p:spPr>
          <a:xfrm>
            <a:off x="5577840" y="2542085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Gain–bandwidth product: gain × bandwidth is constant.</a:t>
            </a:r>
          </a:p>
        </p:txBody>
      </p:sp>
      <p:sp>
        <p:nvSpPr>
          <p:cNvPr id="269" name="Shape 13"/>
          <p:cNvSpPr/>
          <p:nvPr/>
        </p:nvSpPr>
        <p:spPr>
          <a:xfrm>
            <a:off x="8138159" y="1645920"/>
            <a:ext cx="3566161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hape 14"/>
          <p:cNvSpPr/>
          <p:nvPr/>
        </p:nvSpPr>
        <p:spPr>
          <a:xfrm>
            <a:off x="8366759" y="1920239"/>
            <a:ext cx="868681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15"/>
          <p:cNvSpPr txBox="1"/>
          <p:nvPr/>
        </p:nvSpPr>
        <p:spPr>
          <a:xfrm>
            <a:off x="8366759" y="2261301"/>
            <a:ext cx="868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SR</a:t>
            </a:r>
          </a:p>
        </p:txBody>
      </p:sp>
      <p:sp>
        <p:nvSpPr>
          <p:cNvPr id="272" name="Text 16"/>
          <p:cNvSpPr txBox="1"/>
          <p:nvPr/>
        </p:nvSpPr>
        <p:spPr>
          <a:xfrm>
            <a:off x="9372600" y="1954276"/>
            <a:ext cx="214884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V/µs</a:t>
            </a:r>
          </a:p>
        </p:txBody>
      </p:sp>
      <p:sp>
        <p:nvSpPr>
          <p:cNvPr id="273" name="Text 17"/>
          <p:cNvSpPr txBox="1"/>
          <p:nvPr/>
        </p:nvSpPr>
        <p:spPr>
          <a:xfrm>
            <a:off x="9372599" y="2529497"/>
            <a:ext cx="2103122" cy="37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Slew rate limits how fast Vₒᵤₜ can change for large signals.</a:t>
            </a:r>
          </a:p>
        </p:txBody>
      </p:sp>
      <p:sp>
        <p:nvSpPr>
          <p:cNvPr id="274" name="Shape 18"/>
          <p:cNvSpPr/>
          <p:nvPr/>
        </p:nvSpPr>
        <p:spPr>
          <a:xfrm>
            <a:off x="548640" y="3520440"/>
            <a:ext cx="3566160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Shape 19"/>
          <p:cNvSpPr/>
          <p:nvPr/>
        </p:nvSpPr>
        <p:spPr>
          <a:xfrm>
            <a:off x="777239" y="3794759"/>
            <a:ext cx="868682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20"/>
          <p:cNvSpPr txBox="1"/>
          <p:nvPr/>
        </p:nvSpPr>
        <p:spPr>
          <a:xfrm>
            <a:off x="777239" y="4118498"/>
            <a:ext cx="868682" cy="22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Vₒₛ</a:t>
            </a:r>
          </a:p>
        </p:txBody>
      </p:sp>
      <p:sp>
        <p:nvSpPr>
          <p:cNvPr id="277" name="Text 21"/>
          <p:cNvSpPr txBox="1"/>
          <p:nvPr/>
        </p:nvSpPr>
        <p:spPr>
          <a:xfrm>
            <a:off x="1783079" y="3828796"/>
            <a:ext cx="21488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µV–mV</a:t>
            </a:r>
          </a:p>
        </p:txBody>
      </p:sp>
      <p:sp>
        <p:nvSpPr>
          <p:cNvPr id="278" name="Text 22"/>
          <p:cNvSpPr txBox="1"/>
          <p:nvPr/>
        </p:nvSpPr>
        <p:spPr>
          <a:xfrm>
            <a:off x="1783079" y="4416605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Input offset voltage — a DC error added at the input.</a:t>
            </a:r>
          </a:p>
        </p:txBody>
      </p:sp>
      <p:sp>
        <p:nvSpPr>
          <p:cNvPr id="279" name="Shape 23"/>
          <p:cNvSpPr/>
          <p:nvPr/>
        </p:nvSpPr>
        <p:spPr>
          <a:xfrm>
            <a:off x="4343400" y="3520440"/>
            <a:ext cx="3566160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Shape 24"/>
          <p:cNvSpPr/>
          <p:nvPr/>
        </p:nvSpPr>
        <p:spPr>
          <a:xfrm>
            <a:off x="4571999" y="3794759"/>
            <a:ext cx="868682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25"/>
          <p:cNvSpPr txBox="1"/>
          <p:nvPr/>
        </p:nvSpPr>
        <p:spPr>
          <a:xfrm>
            <a:off x="4571999" y="4135821"/>
            <a:ext cx="8686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Iᵦ</a:t>
            </a:r>
          </a:p>
        </p:txBody>
      </p:sp>
      <p:sp>
        <p:nvSpPr>
          <p:cNvPr id="282" name="Text 26"/>
          <p:cNvSpPr txBox="1"/>
          <p:nvPr/>
        </p:nvSpPr>
        <p:spPr>
          <a:xfrm>
            <a:off x="5577840" y="3828796"/>
            <a:ext cx="21488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pA–nA</a:t>
            </a:r>
          </a:p>
        </p:txBody>
      </p:sp>
      <p:sp>
        <p:nvSpPr>
          <p:cNvPr id="283" name="Text 27"/>
          <p:cNvSpPr txBox="1"/>
          <p:nvPr/>
        </p:nvSpPr>
        <p:spPr>
          <a:xfrm>
            <a:off x="5577840" y="4416605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Input bias current — critical when sensing tiny currents.</a:t>
            </a:r>
          </a:p>
        </p:txBody>
      </p:sp>
      <p:sp>
        <p:nvSpPr>
          <p:cNvPr id="284" name="Shape 28"/>
          <p:cNvSpPr/>
          <p:nvPr/>
        </p:nvSpPr>
        <p:spPr>
          <a:xfrm>
            <a:off x="8138159" y="3520440"/>
            <a:ext cx="3566161" cy="1600201"/>
          </a:xfrm>
          <a:prstGeom prst="roundRect">
            <a:avLst>
              <a:gd name="adj" fmla="val 3429"/>
            </a:avLst>
          </a:prstGeom>
          <a:solidFill>
            <a:srgbClr val="EEF1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Shape 29"/>
          <p:cNvSpPr/>
          <p:nvPr/>
        </p:nvSpPr>
        <p:spPr>
          <a:xfrm>
            <a:off x="8366759" y="3794759"/>
            <a:ext cx="868681" cy="868681"/>
          </a:xfrm>
          <a:prstGeom prst="rect">
            <a:avLst/>
          </a:prstGeom>
          <a:solidFill>
            <a:srgbClr val="2228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30"/>
          <p:cNvSpPr txBox="1"/>
          <p:nvPr/>
        </p:nvSpPr>
        <p:spPr>
          <a:xfrm>
            <a:off x="8366759" y="4135821"/>
            <a:ext cx="8686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E8A33D"/>
                </a:solidFill>
              </a:defRPr>
            </a:lvl1pPr>
          </a:lstStyle>
          <a:p>
            <a:pPr/>
            <a:r>
              <a:t>CMRR</a:t>
            </a:r>
          </a:p>
        </p:txBody>
      </p:sp>
      <p:sp>
        <p:nvSpPr>
          <p:cNvPr id="287" name="Text 31"/>
          <p:cNvSpPr txBox="1"/>
          <p:nvPr/>
        </p:nvSpPr>
        <p:spPr>
          <a:xfrm>
            <a:off x="9372600" y="3828796"/>
            <a:ext cx="214884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B8791C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80–120 dB</a:t>
            </a:r>
          </a:p>
        </p:txBody>
      </p:sp>
      <p:sp>
        <p:nvSpPr>
          <p:cNvPr id="288" name="Text 32"/>
          <p:cNvSpPr txBox="1"/>
          <p:nvPr/>
        </p:nvSpPr>
        <p:spPr>
          <a:xfrm>
            <a:off x="9372599" y="4416605"/>
            <a:ext cx="210312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32A31"/>
                </a:solidFill>
              </a:defRPr>
            </a:lvl1pPr>
          </a:lstStyle>
          <a:p>
            <a:pPr/>
            <a:r>
              <a:t>Common-mode rejection: how well it ignores shared signals.</a:t>
            </a:r>
          </a:p>
        </p:txBody>
      </p:sp>
      <p:sp>
        <p:nvSpPr>
          <p:cNvPr id="289" name="Text 33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Topic 4</a:t>
            </a:r>
          </a:p>
        </p:txBody>
      </p:sp>
      <p:sp>
        <p:nvSpPr>
          <p:cNvPr id="290" name="Text 34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1"/>
          <p:cNvSpPr txBox="1"/>
          <p:nvPr/>
        </p:nvSpPr>
        <p:spPr>
          <a:xfrm>
            <a:off x="868680" y="532130"/>
            <a:ext cx="1097280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900"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Frequency response &amp; bandwidth</a:t>
            </a:r>
          </a:p>
        </p:txBody>
      </p:sp>
      <p:sp>
        <p:nvSpPr>
          <p:cNvPr id="296" name="Shape 2"/>
          <p:cNvSpPr/>
          <p:nvPr/>
        </p:nvSpPr>
        <p:spPr>
          <a:xfrm flipH="1">
            <a:off x="1371599" y="2011679"/>
            <a:ext cx="1" cy="292608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Shape 3"/>
          <p:cNvSpPr/>
          <p:nvPr/>
        </p:nvSpPr>
        <p:spPr>
          <a:xfrm>
            <a:off x="1371600" y="4937759"/>
            <a:ext cx="4480560" cy="1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4"/>
          <p:cNvSpPr/>
          <p:nvPr/>
        </p:nvSpPr>
        <p:spPr>
          <a:xfrm>
            <a:off x="1371599" y="2331720"/>
            <a:ext cx="1554482" cy="1"/>
          </a:xfrm>
          <a:prstGeom prst="line">
            <a:avLst/>
          </a:prstGeom>
          <a:ln w="38100">
            <a:solidFill>
              <a:srgbClr val="E8A3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5"/>
          <p:cNvSpPr/>
          <p:nvPr/>
        </p:nvSpPr>
        <p:spPr>
          <a:xfrm>
            <a:off x="2926079" y="2331720"/>
            <a:ext cx="2743201" cy="2606041"/>
          </a:xfrm>
          <a:prstGeom prst="line">
            <a:avLst/>
          </a:prstGeom>
          <a:ln w="38100">
            <a:solidFill>
              <a:srgbClr val="E8A3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6"/>
          <p:cNvSpPr txBox="1"/>
          <p:nvPr/>
        </p:nvSpPr>
        <p:spPr>
          <a:xfrm>
            <a:off x="960119" y="1658927"/>
            <a:ext cx="17373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/>
            </a:lvl1pPr>
          </a:lstStyle>
          <a:p>
            <a:pPr/>
            <a:r>
              <a:t>Gain (dB)</a:t>
            </a:r>
          </a:p>
        </p:txBody>
      </p:sp>
      <p:sp>
        <p:nvSpPr>
          <p:cNvPr id="301" name="Text 7"/>
          <p:cNvSpPr txBox="1"/>
          <p:nvPr/>
        </p:nvSpPr>
        <p:spPr>
          <a:xfrm>
            <a:off x="1508759" y="2057819"/>
            <a:ext cx="1005841" cy="273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E8A33D"/>
                </a:solidFill>
              </a:defRPr>
            </a:lvl1pPr>
          </a:lstStyle>
          <a:p>
            <a:pPr/>
            <a:r>
              <a:t>Aₒₗ</a:t>
            </a:r>
          </a:p>
        </p:txBody>
      </p:sp>
      <p:sp>
        <p:nvSpPr>
          <p:cNvPr id="302" name="Text 8"/>
          <p:cNvSpPr txBox="1"/>
          <p:nvPr/>
        </p:nvSpPr>
        <p:spPr>
          <a:xfrm>
            <a:off x="3246119" y="3133266"/>
            <a:ext cx="21031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/>
            </a:lvl1pPr>
          </a:lstStyle>
          <a:p>
            <a:pPr/>
            <a:r>
              <a:t>−20 dB / decade</a:t>
            </a:r>
          </a:p>
        </p:txBody>
      </p:sp>
      <p:sp>
        <p:nvSpPr>
          <p:cNvPr id="303" name="Text 9"/>
          <p:cNvSpPr txBox="1"/>
          <p:nvPr/>
        </p:nvSpPr>
        <p:spPr>
          <a:xfrm>
            <a:off x="914400" y="4779186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/>
            </a:lvl1pPr>
          </a:lstStyle>
          <a:p>
            <a:pPr/>
            <a:r>
              <a:t>0 dB</a:t>
            </a:r>
          </a:p>
        </p:txBody>
      </p:sp>
      <p:sp>
        <p:nvSpPr>
          <p:cNvPr id="304" name="Text 10"/>
          <p:cNvSpPr txBox="1"/>
          <p:nvPr/>
        </p:nvSpPr>
        <p:spPr>
          <a:xfrm>
            <a:off x="4023360" y="4970579"/>
            <a:ext cx="457201" cy="300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/>
            </a:pPr>
            <a:r>
              <a:t>f</a:t>
            </a:r>
            <a:r>
              <a:rPr baseline="-40000"/>
              <a:t>T</a:t>
            </a:r>
          </a:p>
        </p:txBody>
      </p:sp>
      <p:sp>
        <p:nvSpPr>
          <p:cNvPr id="305" name="Text 11"/>
          <p:cNvSpPr txBox="1"/>
          <p:nvPr/>
        </p:nvSpPr>
        <p:spPr>
          <a:xfrm>
            <a:off x="1417319" y="5225087"/>
            <a:ext cx="40233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/>
            </a:lvl1pPr>
          </a:lstStyle>
          <a:p>
            <a:pPr/>
            <a:r>
              <a:t>Frequency (log scale) →</a:t>
            </a:r>
          </a:p>
        </p:txBody>
      </p:sp>
      <p:sp>
        <p:nvSpPr>
          <p:cNvPr id="306" name="Text 12"/>
          <p:cNvSpPr txBox="1"/>
          <p:nvPr/>
        </p:nvSpPr>
        <p:spPr>
          <a:xfrm>
            <a:off x="1280160" y="5613707"/>
            <a:ext cx="4754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E8A33D"/>
                </a:solidFill>
              </a:defRPr>
            </a:pPr>
            <a:r>
              <a:t>Figure 4: </a:t>
            </a:r>
            <a:r>
              <a:rPr b="0" i="1">
                <a:solidFill>
                  <a:srgbClr val="000000"/>
                </a:solidFill>
              </a:rPr>
              <a:t>Open-loop gain vs frequency (Bode plot) [3]</a:t>
            </a:r>
          </a:p>
        </p:txBody>
      </p:sp>
      <p:sp>
        <p:nvSpPr>
          <p:cNvPr id="307" name="Shape 13"/>
          <p:cNvSpPr/>
          <p:nvPr/>
        </p:nvSpPr>
        <p:spPr>
          <a:xfrm>
            <a:off x="6583680" y="2103120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4"/>
          <p:cNvSpPr txBox="1"/>
          <p:nvPr/>
        </p:nvSpPr>
        <p:spPr>
          <a:xfrm>
            <a:off x="6583680" y="2155444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9" name="Text 15"/>
          <p:cNvSpPr txBox="1"/>
          <p:nvPr/>
        </p:nvSpPr>
        <p:spPr>
          <a:xfrm>
            <a:off x="7132319" y="2122740"/>
            <a:ext cx="4572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Open-loop gain is huge at DC but falls as frequency rises (~ −20 dB per decade).</a:t>
            </a:r>
          </a:p>
        </p:txBody>
      </p:sp>
      <p:sp>
        <p:nvSpPr>
          <p:cNvPr id="310" name="Shape 16"/>
          <p:cNvSpPr/>
          <p:nvPr/>
        </p:nvSpPr>
        <p:spPr>
          <a:xfrm>
            <a:off x="6583680" y="3017520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17"/>
          <p:cNvSpPr txBox="1"/>
          <p:nvPr/>
        </p:nvSpPr>
        <p:spPr>
          <a:xfrm>
            <a:off x="6583680" y="3069844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2" name="Text 18"/>
          <p:cNvSpPr txBox="1"/>
          <p:nvPr/>
        </p:nvSpPr>
        <p:spPr>
          <a:xfrm>
            <a:off x="7132319" y="3121214"/>
            <a:ext cx="4572001" cy="249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/>
            </a:pPr>
            <a:r>
              <a:t>Gain × bandwidth = constant = the unity-gain frequency f</a:t>
            </a:r>
            <a:r>
              <a:rPr baseline="-40000"/>
              <a:t>T</a:t>
            </a:r>
            <a:r>
              <a:t>.</a:t>
            </a:r>
          </a:p>
        </p:txBody>
      </p:sp>
      <p:sp>
        <p:nvSpPr>
          <p:cNvPr id="313" name="Shape 19"/>
          <p:cNvSpPr/>
          <p:nvPr/>
        </p:nvSpPr>
        <p:spPr>
          <a:xfrm>
            <a:off x="6583680" y="3931920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20"/>
          <p:cNvSpPr txBox="1"/>
          <p:nvPr/>
        </p:nvSpPr>
        <p:spPr>
          <a:xfrm>
            <a:off x="6583680" y="3984244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5" name="Text 21"/>
          <p:cNvSpPr txBox="1"/>
          <p:nvPr/>
        </p:nvSpPr>
        <p:spPr>
          <a:xfrm>
            <a:off x="7132319" y="3941126"/>
            <a:ext cx="45720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More closed-loop gain therefore means less bandwidth — a direct trade-off.</a:t>
            </a:r>
          </a:p>
        </p:txBody>
      </p:sp>
      <p:sp>
        <p:nvSpPr>
          <p:cNvPr id="316" name="Shape 22"/>
          <p:cNvSpPr/>
          <p:nvPr/>
        </p:nvSpPr>
        <p:spPr>
          <a:xfrm>
            <a:off x="6583680" y="4846320"/>
            <a:ext cx="384049" cy="384049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23"/>
          <p:cNvSpPr txBox="1"/>
          <p:nvPr/>
        </p:nvSpPr>
        <p:spPr>
          <a:xfrm>
            <a:off x="6583680" y="4898644"/>
            <a:ext cx="384049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8" name="Text 24"/>
          <p:cNvSpPr txBox="1"/>
          <p:nvPr/>
        </p:nvSpPr>
        <p:spPr>
          <a:xfrm>
            <a:off x="7132319" y="4799138"/>
            <a:ext cx="4572001" cy="47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/>
            </a:pPr>
            <a:r>
              <a:t>Above f</a:t>
            </a:r>
            <a:r>
              <a:rPr baseline="-40000"/>
              <a:t>T</a:t>
            </a:r>
            <a:r>
              <a:t> the gain drops below 1 and the op-amp can no longer amplify.</a:t>
            </a:r>
          </a:p>
        </p:txBody>
      </p:sp>
      <p:sp>
        <p:nvSpPr>
          <p:cNvPr id="319" name="Text 25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Topic 4</a:t>
            </a:r>
          </a:p>
        </p:txBody>
      </p:sp>
      <p:sp>
        <p:nvSpPr>
          <p:cNvPr id="320" name="Text 26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26" name="Shape 2"/>
          <p:cNvSpPr/>
          <p:nvPr/>
        </p:nvSpPr>
        <p:spPr>
          <a:xfrm>
            <a:off x="731519" y="1737360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3"/>
          <p:cNvSpPr txBox="1"/>
          <p:nvPr/>
        </p:nvSpPr>
        <p:spPr>
          <a:xfrm>
            <a:off x="731519" y="1826260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8" name="Text 4"/>
          <p:cNvSpPr txBox="1"/>
          <p:nvPr/>
        </p:nvSpPr>
        <p:spPr>
          <a:xfrm>
            <a:off x="1417319" y="1769566"/>
            <a:ext cx="100584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A differential amplifier</a:t>
            </a:r>
          </a:p>
        </p:txBody>
      </p:sp>
      <p:sp>
        <p:nvSpPr>
          <p:cNvPr id="329" name="Text 5"/>
          <p:cNvSpPr txBox="1"/>
          <p:nvPr/>
        </p:nvSpPr>
        <p:spPr>
          <a:xfrm>
            <a:off x="1417319" y="2250756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The op-amp amplifies only V₊ − V₋, with a very high open-loop gain.</a:t>
            </a:r>
          </a:p>
        </p:txBody>
      </p:sp>
      <p:sp>
        <p:nvSpPr>
          <p:cNvPr id="330" name="Shape 6"/>
          <p:cNvSpPr/>
          <p:nvPr/>
        </p:nvSpPr>
        <p:spPr>
          <a:xfrm>
            <a:off x="731519" y="2761488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7"/>
          <p:cNvSpPr txBox="1"/>
          <p:nvPr/>
        </p:nvSpPr>
        <p:spPr>
          <a:xfrm>
            <a:off x="731519" y="2850388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2" name="Text 8"/>
          <p:cNvSpPr txBox="1"/>
          <p:nvPr/>
        </p:nvSpPr>
        <p:spPr>
          <a:xfrm>
            <a:off x="1417319" y="2793694"/>
            <a:ext cx="100584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Two golden rules</a:t>
            </a:r>
          </a:p>
        </p:txBody>
      </p:sp>
      <p:sp>
        <p:nvSpPr>
          <p:cNvPr id="333" name="Text 9"/>
          <p:cNvSpPr txBox="1"/>
          <p:nvPr/>
        </p:nvSpPr>
        <p:spPr>
          <a:xfrm>
            <a:off x="1417319" y="3274884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Under negative feedback: virtual short (V₊ = V₋) and no input current.</a:t>
            </a:r>
          </a:p>
        </p:txBody>
      </p:sp>
      <p:sp>
        <p:nvSpPr>
          <p:cNvPr id="334" name="Shape 10"/>
          <p:cNvSpPr/>
          <p:nvPr/>
        </p:nvSpPr>
        <p:spPr>
          <a:xfrm>
            <a:off x="731519" y="3785615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11"/>
          <p:cNvSpPr txBox="1"/>
          <p:nvPr/>
        </p:nvSpPr>
        <p:spPr>
          <a:xfrm>
            <a:off x="731519" y="3874515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6" name="Text 12"/>
          <p:cNvSpPr txBox="1"/>
          <p:nvPr/>
        </p:nvSpPr>
        <p:spPr>
          <a:xfrm>
            <a:off x="1417319" y="3817823"/>
            <a:ext cx="10058401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Gain set by feedback</a:t>
            </a:r>
          </a:p>
        </p:txBody>
      </p:sp>
      <p:sp>
        <p:nvSpPr>
          <p:cNvPr id="337" name="Text 13"/>
          <p:cNvSpPr txBox="1"/>
          <p:nvPr/>
        </p:nvSpPr>
        <p:spPr>
          <a:xfrm>
            <a:off x="1417319" y="4299012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Inverting and non-inverting gains are both fixed by the external resistor ratio — set by the resistors, not by the op-amp.</a:t>
            </a:r>
          </a:p>
        </p:txBody>
      </p:sp>
      <p:sp>
        <p:nvSpPr>
          <p:cNvPr id="338" name="Shape 14"/>
          <p:cNvSpPr/>
          <p:nvPr/>
        </p:nvSpPr>
        <p:spPr>
          <a:xfrm>
            <a:off x="731519" y="4809744"/>
            <a:ext cx="45720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15"/>
          <p:cNvSpPr txBox="1"/>
          <p:nvPr/>
        </p:nvSpPr>
        <p:spPr>
          <a:xfrm>
            <a:off x="731519" y="4898644"/>
            <a:ext cx="457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0" name="Text 16"/>
          <p:cNvSpPr txBox="1"/>
          <p:nvPr/>
        </p:nvSpPr>
        <p:spPr>
          <a:xfrm>
            <a:off x="1417319" y="4841950"/>
            <a:ext cx="100584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B8791C"/>
                </a:solidFill>
              </a:defRPr>
            </a:lvl1pPr>
          </a:lstStyle>
          <a:p>
            <a:pPr/>
            <a:r>
              <a:t>Respect the real limits</a:t>
            </a:r>
          </a:p>
        </p:txBody>
      </p:sp>
      <p:sp>
        <p:nvSpPr>
          <p:cNvPr id="341" name="Text 17"/>
          <p:cNvSpPr txBox="1"/>
          <p:nvPr/>
        </p:nvSpPr>
        <p:spPr>
          <a:xfrm>
            <a:off x="1417319" y="5323139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Offset, bias current, finite gain-bandwidth, slew rate and CMRR bound real performance.</a:t>
            </a:r>
          </a:p>
        </p:txBody>
      </p:sp>
      <p:sp>
        <p:nvSpPr>
          <p:cNvPr id="342" name="Text 18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 Topic 4</a:t>
            </a:r>
          </a:p>
        </p:txBody>
      </p:sp>
      <p:sp>
        <p:nvSpPr>
          <p:cNvPr id="343" name="Text 19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548640" y="502919"/>
            <a:ext cx="182881" cy="457201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1"/>
          <p:cNvSpPr txBox="1"/>
          <p:nvPr/>
        </p:nvSpPr>
        <p:spPr>
          <a:xfrm>
            <a:off x="868679" y="525780"/>
            <a:ext cx="1078992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22282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49" name="Text 2"/>
          <p:cNvSpPr txBox="1"/>
          <p:nvPr/>
        </p:nvSpPr>
        <p:spPr>
          <a:xfrm>
            <a:off x="822959" y="1449039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[1]  Texas Instruments, “Handbook of Operational Amplifier Applications,” Application Report SBOA092B, 2016.</a:t>
            </a:r>
          </a:p>
        </p:txBody>
      </p:sp>
      <p:sp>
        <p:nvSpPr>
          <p:cNvPr id="350" name="Text 3"/>
          <p:cNvSpPr txBox="1"/>
          <p:nvPr/>
        </p:nvSpPr>
        <p:spPr>
          <a:xfrm>
            <a:off x="822959" y="1871575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[2]  P. Horowitz and W. Hill, The Art of Electronics, 3rd ed. Cambridge University Press, 2015.</a:t>
            </a:r>
          </a:p>
        </p:txBody>
      </p:sp>
      <p:sp>
        <p:nvSpPr>
          <p:cNvPr id="351" name="Text 4"/>
          <p:cNvSpPr txBox="1"/>
          <p:nvPr/>
        </p:nvSpPr>
        <p:spPr>
          <a:xfrm>
            <a:off x="822959" y="2294111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[3]  S. Franco, Design with Operational Amplifiers and Analog Integrated Circuits, 4th ed. McGraw-Hill, 2015.</a:t>
            </a:r>
          </a:p>
        </p:txBody>
      </p:sp>
      <p:sp>
        <p:nvSpPr>
          <p:cNvPr id="352" name="Text 5"/>
          <p:cNvSpPr txBox="1"/>
          <p:nvPr/>
        </p:nvSpPr>
        <p:spPr>
          <a:xfrm>
            <a:off x="822959" y="2716646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[4]  A. S. Sedra and K. C. Smith, Microelectronic Circuits, 7th ed. Oxford University Press, 2015.</a:t>
            </a:r>
          </a:p>
        </p:txBody>
      </p:sp>
      <p:sp>
        <p:nvSpPr>
          <p:cNvPr id="353" name="Text 6"/>
          <p:cNvSpPr txBox="1"/>
          <p:nvPr/>
        </p:nvSpPr>
        <p:spPr>
          <a:xfrm>
            <a:off x="822959" y="3139182"/>
            <a:ext cx="10789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32A31"/>
                </a:solidFill>
              </a:defRPr>
            </a:lvl1pPr>
          </a:lstStyle>
          <a:p>
            <a:pPr/>
            <a:r>
              <a:t>[5]  R. Mancini (ed.), Op Amps for Everyone, Texas Instruments, 2002.</a:t>
            </a:r>
          </a:p>
        </p:txBody>
      </p:sp>
      <p:sp>
        <p:nvSpPr>
          <p:cNvPr id="354" name="Text 7"/>
          <p:cNvSpPr txBox="1"/>
          <p:nvPr/>
        </p:nvSpPr>
        <p:spPr>
          <a:xfrm>
            <a:off x="502919" y="6480723"/>
            <a:ext cx="4480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Topic 4</a:t>
            </a:r>
          </a:p>
        </p:txBody>
      </p:sp>
      <p:sp>
        <p:nvSpPr>
          <p:cNvPr id="355" name="Text 8"/>
          <p:cNvSpPr txBox="1"/>
          <p:nvPr/>
        </p:nvSpPr>
        <p:spPr>
          <a:xfrm>
            <a:off x="9006839" y="6480723"/>
            <a:ext cx="2651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C7883"/>
                </a:solidFill>
              </a:defRPr>
            </a:lvl1pPr>
          </a:lstStyle>
          <a:p>
            <a:pPr/>
            <a:r>
              <a:t>16.07.2026   |  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2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"/>
          <p:cNvSpPr/>
          <p:nvPr/>
        </p:nvSpPr>
        <p:spPr>
          <a:xfrm>
            <a:off x="640080" y="2560320"/>
            <a:ext cx="201169" cy="502920"/>
          </a:xfrm>
          <a:prstGeom prst="rect">
            <a:avLst/>
          </a:prstGeom>
          <a:solidFill>
            <a:srgbClr val="E8A33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4"/>
          <p:cNvSpPr txBox="1"/>
          <p:nvPr/>
        </p:nvSpPr>
        <p:spPr>
          <a:xfrm>
            <a:off x="960119" y="2529840"/>
            <a:ext cx="73152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</a:lstStyle>
          <a:p>
            <a:pPr/>
            <a:r>
              <a:t>Vielen Dank!</a:t>
            </a:r>
          </a:p>
        </p:txBody>
      </p:sp>
      <p:sp>
        <p:nvSpPr>
          <p:cNvPr id="361" name="Text 5"/>
          <p:cNvSpPr txBox="1"/>
          <p:nvPr/>
        </p:nvSpPr>
        <p:spPr>
          <a:xfrm>
            <a:off x="1024128" y="3548074"/>
            <a:ext cx="722376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E8A33D"/>
                </a:solidFill>
              </a:defRPr>
            </a:lvl1pPr>
          </a:lstStyle>
          <a:p>
            <a:pPr/>
            <a:r>
              <a:t>Presented by:  Nandini Mavillapalle</a:t>
            </a:r>
          </a:p>
        </p:txBody>
      </p:sp>
      <p:sp>
        <p:nvSpPr>
          <p:cNvPr id="362" name="Text 6"/>
          <p:cNvSpPr txBox="1"/>
          <p:nvPr/>
        </p:nvSpPr>
        <p:spPr>
          <a:xfrm>
            <a:off x="1024128" y="3974400"/>
            <a:ext cx="7680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D6DCE1"/>
                </a:solidFill>
              </a:defRPr>
            </a:lvl1pPr>
          </a:lstStyle>
          <a:p>
            <a:pPr/>
            <a:r>
              <a:t>1st Semester M.Sc. EE Student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